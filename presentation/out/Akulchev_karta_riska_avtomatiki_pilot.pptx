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текст" id="{f05c1c29-9673-58cc-b1ff-bcba94387e17}">
          <p14:sldIdLst>
            <p14:sldId id="256"/>
            <p14:sldId id="257"/>
          </p14:sldIdLst>
        </p14:section>
        <p14:section name="Что и как проверяем" id="{05dfc418-b05c-989a-a1df-b25450d3db3a}">
          <p14:sldIdLst>
            <p14:sldId id="258"/>
            <p14:sldId id="259"/>
            <p14:sldId id="260"/>
          </p14:sldIdLst>
        </p14:section>
        <p14:section name="Результат" id="{2251326f-998f-9466-1ba6-4d6eda44cadc}">
          <p14:sldIdLst>
            <p14:sldId id="261"/>
            <p14:sldId id="262"/>
          </p14:sldIdLst>
        </p14:section>
        <p14:section name="Пилот и условия" id="{29030bfb-6f4b-19c8-3e7f-0fea4ad9a9cc}">
          <p14:sldIdLst>
            <p14:sldId id="263"/>
            <p14:sldId id="264"/>
          </p14:sldIdLst>
        </p14:section>
        <p14:section name="Приложение" id="{17caeb48-e5ca-6444-cadd-5628e2fb874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Вес фактора</c:v>
                </c:pt>
              </c:strCache>
            </c:strRef>
          </c:tx>
          <c:spPr>
            <a:solidFill>
              <a:srgbClr val="B4530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Сложность замены, наличие backup</c:v>
                  </c:pt>
                  <c:pt idx="1">
                    <c:v>Резерв и ремонтопригодность</c:v>
                  </c:pt>
                  <c:pt idx="2">
                    <c:v>Доступность и срок поставки</c:v>
                  </c:pt>
                  <c:pt idx="3">
                    <c:v>Стадия жизненного цикла / EOL</c:v>
                  </c:pt>
                  <c:pt idx="4">
                    <c:v>Последствия отказа для линии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15</c:v>
                </c:pt>
                <c:pt idx="2">
                  <c:v>20</c:v>
                </c:pt>
                <c:pt idx="3">
                  <c:v>20</c:v>
                </c:pt>
                <c:pt idx="4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встречи — согласовать одну критичную линию и дату выезда.
Пилот бесплатный, без подключения к производственной сети и без изменения программ.
Результат — карта риска устаревания автоматики выбранной линии.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четыре факта — из публичных источников, ссылки внизу слайда и в приложении.
Конкретный установленный парк (модели ПЛК, HMI, приводов) компании не приписывается: публичных данных по нему нет, это и есть предмет инвентаризации.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классов компонентов — предмет аудита. Список расширяется по месту.
Важно проговорить: это аудит жизненного цикла и доступности, а не электротехническая диагностика. Мы не обещаем измерить остаточный ресурс электроники без стенда.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Семь шагов. Первый и пятый — совместные с инженером предприятия, остальные делаем сами.
Ключевое возражение, которое снимает нижняя плашка: пилот не требует доступа в сеть АСУ ТП и не останавливает линию.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Веса и границы категорий — предмет настройки под предприятие, это рабочая модель.
Про источники: приоритет официальной документации производителя, независимые поставщики — только проверка рынка.
Сознательно не делаем псевдоточность: балл приоритизирует, а не предсказывает.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главный слайд: так выглядит рабочий результат.
Обозначения PLC-01 … VFD-03 обезличены, данные условные — установленный парк «Акульчев» мы не знаем и не придумываем.
Полная таблица реестра содержит 19 полей, включая ревизию, backup, дату последней закупки и горизонт действия.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осязаемых результата. Четвёртый — честный: аудит показывает и то, каких данных у предприятия нет.
Данные закупок не обязательны для пилота, но заметно усиливают расчёт резерва.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Единственное действие, которое нужно от клиента на этой встрече: выбрать линию и дату.
Пилот бесплатный и ограничен по объёму — это не бессрочное обязательство ни для нас, ни для предприятия.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варианта — ориентир по порядку величины, чтобы предприятие понимало масштаб, а не оферта.
Главное сообщение: платный этап появляется только после пилота и только если его результат оказался полезным.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Слайд-приложение. Нужен, чтобы инженер мог проверить каждый внешний факт.
Нижняя плашка отделяет подтверждённые факты от предлагаемой методики.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1118585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0292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риска промышленной автоматики · бесплатный пилот для «Акульчев»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10896"/>
            <a:ext cx="1118585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0292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риска промышленной автоматики · бесплатный пилот для «Акульчев»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1118585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0292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риска промышленной автоматики · бесплатный пилот для «Акульчев»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6C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-placeholder-s1"/>
          <p:cNvSpPr/>
          <p:nvPr/>
        </p:nvSpPr>
        <p:spPr>
          <a:xfrm>
            <a:off x="6446520" y="0"/>
            <a:ext cx="5742432" cy="6858000"/>
          </a:xfrm>
          <a:prstGeom prst="roundRect">
            <a:avLst>
              <a:gd name="adj" fmla="val 955"/>
            </a:avLst>
          </a:prstGeom>
          <a:solidFill>
            <a:srgbClr val="263241"/>
          </a:solidFill>
          <a:ln w="12700">
            <a:solidFill>
              <a:srgbClr val="3C4A5C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611112" y="0"/>
            <a:ext cx="5413248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8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01 · 16:9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8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Цех, открытый шкаф автоматики,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8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 сбоку. Свободное поле слева.</a:t>
            </a:r>
            <a:endParaRPr lang="en-US" sz="1000" dirty="0"/>
          </a:p>
        </p:txBody>
      </p:sp>
      <p:sp>
        <p:nvSpPr>
          <p:cNvPr id="4" name="title-scrim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chemeClr val="tx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76809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E08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ПИЛОТНЫЙ АУДИТ · ПРОМЫШЛЕННАЯ АВТОМАТИКА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88720"/>
            <a:ext cx="585216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Карта риска</a:t>
            </a:r>
            <a:endParaRPr lang="en-US" sz="3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промышленной</a:t>
            </a:r>
            <a:endParaRPr lang="en-US" sz="3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автоматики</a:t>
            </a:r>
            <a:endParaRPr lang="en-US" sz="3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одной линии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56616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08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Бесплатный пилот для «Акульчев»</a:t>
            </a:r>
            <a:endParaRPr lang="en-US" sz="2000" dirty="0"/>
          </a:p>
        </p:txBody>
      </p:sp>
      <p:sp>
        <p:nvSpPr>
          <p:cNvPr id="8" name="chain"/>
          <p:cNvSpPr/>
          <p:nvPr/>
        </p:nvSpPr>
        <p:spPr>
          <a:xfrm>
            <a:off x="502920" y="4242816"/>
            <a:ext cx="5852160" cy="950976"/>
          </a:xfrm>
          <a:prstGeom prst="roundRect">
            <a:avLst>
              <a:gd name="adj" fmla="val 4808"/>
            </a:avLst>
          </a:prstGeom>
          <a:solidFill>
            <a:srgbClr val="263241"/>
          </a:solidFill>
          <a:ln w="9525">
            <a:solidFill>
              <a:srgbClr val="3341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" y="4242816"/>
            <a:ext cx="54132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1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Жизненный цикл компонентов  →  риск дефицита  →  резерв  →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1F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ремонт / замена  →  план миграции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44982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жизненного цикла и риска устаревания ПЛК, HMI, приводов и модулей ввода-вывода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Почему тема актуальна для производства «Акульчев»</a:t>
            </a:r>
            <a:endParaRPr lang="en-US" sz="3000" dirty="0"/>
          </a:p>
        </p:txBody>
      </p:sp>
      <p:sp>
        <p:nvSpPr>
          <p:cNvPr id="3" name="img-placeholder-s2"/>
          <p:cNvSpPr/>
          <p:nvPr/>
        </p:nvSpPr>
        <p:spPr>
          <a:xfrm>
            <a:off x="7653528" y="1335024"/>
            <a:ext cx="4035247" cy="4078224"/>
          </a:xfrm>
          <a:prstGeom prst="roundRect">
            <a:avLst>
              <a:gd name="adj" fmla="val 1360"/>
            </a:avLst>
          </a:prstGeom>
          <a:solidFill>
            <a:schemeClr val="bg2"/>
          </a:solidFill>
          <a:ln w="12700">
            <a:solidFill>
              <a:srgbClr val="DCE3EA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7818120" y="1335024"/>
            <a:ext cx="3706063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07 · 16:9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Широкий вид действующей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кондитерской линии.</a:t>
            </a:r>
            <a:endParaRPr lang="en-US" sz="1000" dirty="0"/>
          </a:p>
        </p:txBody>
      </p:sp>
      <p:sp>
        <p:nvSpPr>
          <p:cNvPr id="5" name="quote-card"/>
          <p:cNvSpPr/>
          <p:nvPr/>
        </p:nvSpPr>
        <p:spPr>
          <a:xfrm>
            <a:off x="502920" y="1335024"/>
            <a:ext cx="6876288" cy="1078992"/>
          </a:xfrm>
          <a:prstGeom prst="roundRect">
            <a:avLst>
              <a:gd name="adj" fmla="val 4237"/>
            </a:avLst>
          </a:prstGeom>
          <a:solidFill>
            <a:schemeClr val="tx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" y="1335024"/>
            <a:ext cx="6400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«Наше производство высокоавтоматизированное, уровень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автоматизации составляет 50%, а в планах — дойти до 80%»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08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Сергей Акульчев, интервью «Бизнес Online»</a:t>
            </a:r>
            <a:endParaRPr lang="en-US" sz="1350" dirty="0"/>
          </a:p>
        </p:txBody>
      </p:sp>
      <p:sp>
        <p:nvSpPr>
          <p:cNvPr id="7" name="card"/>
          <p:cNvSpPr/>
          <p:nvPr/>
        </p:nvSpPr>
        <p:spPr>
          <a:xfrm>
            <a:off x="502920" y="2560320"/>
            <a:ext cx="6876288" cy="877824"/>
          </a:xfrm>
          <a:prstGeom prst="roundRect">
            <a:avLst>
              <a:gd name="adj" fmla="val 5208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8" name="badge-1"/>
          <p:cNvSpPr/>
          <p:nvPr/>
        </p:nvSpPr>
        <p:spPr>
          <a:xfrm>
            <a:off x="704088" y="2743200"/>
            <a:ext cx="310896" cy="310896"/>
          </a:xfrm>
          <a:prstGeom prst="ellipse">
            <a:avLst/>
          </a:prstGeom>
          <a:solidFill>
            <a:srgbClr val="B4530E"/>
          </a:solidFill>
          <a:ln w="12700">
            <a:solidFill>
              <a:srgbClr val="B4530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24712" y="26609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Программную поддержку западных вендоров прекратили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" y="29077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«Западные компании перестали обслуживать программное обеспечение, и это проблема» — сказано именно в связи с высокой автоматизацией производства.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502920" y="3547872"/>
            <a:ext cx="6876288" cy="877824"/>
          </a:xfrm>
          <a:prstGeom prst="roundRect">
            <a:avLst>
              <a:gd name="adj" fmla="val 5208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3" name="badge-2"/>
          <p:cNvSpPr/>
          <p:nvPr/>
        </p:nvSpPr>
        <p:spPr>
          <a:xfrm>
            <a:off x="704088" y="3730752"/>
            <a:ext cx="310896" cy="310896"/>
          </a:xfrm>
          <a:prstGeom prst="ellipse">
            <a:avLst/>
          </a:prstGeom>
          <a:solidFill>
            <a:srgbClr val="B4530E"/>
          </a:solidFill>
          <a:ln w="12700">
            <a:solidFill>
              <a:srgbClr val="B4530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" y="364845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Парк автоматики — импортный и разных поколений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" y="38953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закупалось в Австрии, Германии, Швейцарии, Италии, Нидерландах и Франции. Часть пополнения парка — бывшее в эксплуатации оборудование.</a:t>
            </a:r>
            <a:endParaRPr lang="en-US" sz="1050" dirty="0"/>
          </a:p>
        </p:txBody>
      </p:sp>
      <p:sp>
        <p:nvSpPr>
          <p:cNvPr id="17" name="card"/>
          <p:cNvSpPr/>
          <p:nvPr/>
        </p:nvSpPr>
        <p:spPr>
          <a:xfrm>
            <a:off x="502920" y="4535424"/>
            <a:ext cx="6876288" cy="877824"/>
          </a:xfrm>
          <a:prstGeom prst="roundRect">
            <a:avLst>
              <a:gd name="adj" fmla="val 5208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8" name="badge-3"/>
          <p:cNvSpPr/>
          <p:nvPr/>
        </p:nvSpPr>
        <p:spPr>
          <a:xfrm>
            <a:off x="704088" y="4718304"/>
            <a:ext cx="310896" cy="310896"/>
          </a:xfrm>
          <a:prstGeom prst="ellipse">
            <a:avLst/>
          </a:prstGeom>
          <a:solidFill>
            <a:srgbClr val="B4530E"/>
          </a:solidFill>
          <a:ln w="12700">
            <a:solidFill>
              <a:srgbClr val="B4530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" y="4718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" y="46360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Запчасти идут дольше, стоят дороже и труднее находятся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" y="48828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Прежние поставщики перестали выходить на связь; запас запчастей оценивался примерно в полгода; логистика подорожала примерно в 1,5 раза.</a:t>
            </a:r>
            <a:endParaRPr lang="en-US" sz="1050" dirty="0"/>
          </a:p>
        </p:txBody>
      </p:sp>
      <p:sp>
        <p:nvSpPr>
          <p:cNvPr id="22" name="concl"/>
          <p:cNvSpPr/>
          <p:nvPr/>
        </p:nvSpPr>
        <p:spPr>
          <a:xfrm>
            <a:off x="502920" y="5522976"/>
            <a:ext cx="11185855" cy="475488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" y="5522976"/>
            <a:ext cx="107103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устаревания автоматики для такого парка — не прогноз, а следствие уже описанной ситуации. Открытый вопрос один: где именно этот риск сконцентрирован.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089904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«Бизнес Online» — business-gazeta.ru/article/619038, business-gazeta.ru/article/544823 · hh.ru/employer/22212 · retail.ru. Полный список — в приложении.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именно проверяется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02920" y="1335024"/>
            <a:ext cx="2542032" cy="1152144"/>
          </a:xfrm>
          <a:prstGeom prst="roundRect">
            <a:avLst>
              <a:gd name="adj" fmla="val 3968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" name="badge-ПЛК"/>
          <p:cNvSpPr/>
          <p:nvPr/>
        </p:nvSpPr>
        <p:spPr>
          <a:xfrm>
            <a:off x="667512" y="150876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ПЛК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179576" y="150876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Программируемый контроллер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97510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выполняет логику участка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3191256" y="1335024"/>
            <a:ext cx="2542032" cy="1152144"/>
          </a:xfrm>
          <a:prstGeom prst="roundRect">
            <a:avLst>
              <a:gd name="adj" fmla="val 3968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9" name="badge-HMI"/>
          <p:cNvSpPr/>
          <p:nvPr/>
        </p:nvSpPr>
        <p:spPr>
          <a:xfrm>
            <a:off x="3355848" y="150876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55848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HMI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867912" y="150876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Панель оператора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197510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режимы, ошибки, рецептуры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5879592" y="1335024"/>
            <a:ext cx="2542032" cy="1152144"/>
          </a:xfrm>
          <a:prstGeom prst="roundRect">
            <a:avLst>
              <a:gd name="adj" fmla="val 3968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4" name="badge-VFD"/>
          <p:cNvSpPr/>
          <p:nvPr/>
        </p:nvSpPr>
        <p:spPr>
          <a:xfrm>
            <a:off x="6044184" y="150876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44184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VFD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556248" y="150876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Частотный преобразователь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44184" y="197510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конвейеров и насосов</a:t>
            </a:r>
            <a:endParaRPr lang="en-US" sz="1000" dirty="0"/>
          </a:p>
        </p:txBody>
      </p:sp>
      <p:sp>
        <p:nvSpPr>
          <p:cNvPr id="18" name="card"/>
          <p:cNvSpPr/>
          <p:nvPr/>
        </p:nvSpPr>
        <p:spPr>
          <a:xfrm>
            <a:off x="502920" y="2633472"/>
            <a:ext cx="2542032" cy="1152144"/>
          </a:xfrm>
          <a:prstGeom prst="roundRect">
            <a:avLst>
              <a:gd name="adj" fmla="val 3968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9" name="badge-SERVO"/>
          <p:cNvSpPr/>
          <p:nvPr/>
        </p:nvSpPr>
        <p:spPr>
          <a:xfrm>
            <a:off x="667512" y="2807208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SERVO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179576" y="280720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Сервопривод и серводрайв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67512" y="327355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точная подача, резка, упаковка</a:t>
            </a:r>
            <a:endParaRPr lang="en-US" sz="1000" dirty="0"/>
          </a:p>
        </p:txBody>
      </p:sp>
      <p:sp>
        <p:nvSpPr>
          <p:cNvPr id="23" name="card"/>
          <p:cNvSpPr/>
          <p:nvPr/>
        </p:nvSpPr>
        <p:spPr>
          <a:xfrm>
            <a:off x="3191256" y="2633472"/>
            <a:ext cx="2542032" cy="1152144"/>
          </a:xfrm>
          <a:prstGeom prst="roundRect">
            <a:avLst>
              <a:gd name="adj" fmla="val 3968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4" name="badge-I/O"/>
          <p:cNvSpPr/>
          <p:nvPr/>
        </p:nvSpPr>
        <p:spPr>
          <a:xfrm>
            <a:off x="3355848" y="2807208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5584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I/O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867912" y="280720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Модули ввода-вывода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355848" y="327355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сигналы датчиков и команды</a:t>
            </a:r>
            <a:endParaRPr lang="en-US" sz="1000" dirty="0"/>
          </a:p>
        </p:txBody>
      </p:sp>
      <p:sp>
        <p:nvSpPr>
          <p:cNvPr id="28" name="card"/>
          <p:cNvSpPr/>
          <p:nvPr/>
        </p:nvSpPr>
        <p:spPr>
          <a:xfrm>
            <a:off x="5879592" y="2633472"/>
            <a:ext cx="2542032" cy="1152144"/>
          </a:xfrm>
          <a:prstGeom prst="roundRect">
            <a:avLst>
              <a:gd name="adj" fmla="val 3968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9" name="badge-IPC"/>
          <p:cNvSpPr/>
          <p:nvPr/>
        </p:nvSpPr>
        <p:spPr>
          <a:xfrm>
            <a:off x="6044184" y="2807208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44184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IPC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556248" y="280720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Промышленный ПК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044184" y="327355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визуализация, архивы, рецептуры</a:t>
            </a:r>
            <a:endParaRPr lang="en-US" sz="1000" dirty="0"/>
          </a:p>
        </p:txBody>
      </p:sp>
      <p:sp>
        <p:nvSpPr>
          <p:cNvPr id="33" name="img-placeholder-s3"/>
          <p:cNvSpPr/>
          <p:nvPr/>
        </p:nvSpPr>
        <p:spPr>
          <a:xfrm>
            <a:off x="8659368" y="1335024"/>
            <a:ext cx="3029407" cy="2450592"/>
          </a:xfrm>
          <a:prstGeom prst="roundRect">
            <a:avLst>
              <a:gd name="adj" fmla="val 2239"/>
            </a:avLst>
          </a:prstGeom>
          <a:solidFill>
            <a:schemeClr val="bg2"/>
          </a:solidFill>
          <a:ln w="12700">
            <a:solidFill>
              <a:srgbClr val="DCE3EA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8823960" y="1335024"/>
            <a:ext cx="2700223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02 · 4:3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 автоматики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инженерном столе.</a:t>
            </a:r>
            <a:endParaRPr lang="en-US" sz="1000" dirty="0"/>
          </a:p>
        </p:txBody>
      </p:sp>
      <p:sp>
        <p:nvSpPr>
          <p:cNvPr id="35" name="card"/>
          <p:cNvSpPr/>
          <p:nvPr/>
        </p:nvSpPr>
        <p:spPr>
          <a:xfrm>
            <a:off x="502920" y="3931920"/>
            <a:ext cx="11185855" cy="603504"/>
          </a:xfrm>
          <a:prstGeom prst="roundRect">
            <a:avLst>
              <a:gd name="adj" fmla="val 7576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0664" y="3931920"/>
            <a:ext cx="107103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этап — не стендовая диагностика.  </a:t>
            </a:r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Остаточный физический ресурс платы не измеряется: если компонент требует этого, он выделяется в отдельный маршрут через сервисного партнёра. При необходимости в список добавляются блоки питания, коммуникационные модули и сетевое оборудование АСУ ТП.</a:t>
            </a:r>
            <a:endParaRPr lang="en-US" sz="1050" dirty="0"/>
          </a:p>
        </p:txBody>
      </p:sp>
      <p:sp>
        <p:nvSpPr>
          <p:cNvPr id="37" name="audit-question"/>
          <p:cNvSpPr/>
          <p:nvPr/>
        </p:nvSpPr>
        <p:spPr>
          <a:xfrm>
            <a:off x="502920" y="4626864"/>
            <a:ext cx="11185855" cy="13716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8680" y="4626864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160" kern="0" dirty="0">
                <a:solidFill>
                  <a:srgbClr val="E08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АУДИТА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Если этот компонент понадобится завтра — есть ли понятный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 безопасный путь восстановления работы линии?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проходит пилот</a:t>
            </a:r>
            <a:endParaRPr lang="en-US" sz="3000" dirty="0"/>
          </a:p>
        </p:txBody>
      </p:sp>
      <p:sp>
        <p:nvSpPr>
          <p:cNvPr id="3" name="badge-1"/>
          <p:cNvSpPr/>
          <p:nvPr/>
        </p:nvSpPr>
        <p:spPr>
          <a:xfrm>
            <a:off x="502920" y="1444752"/>
            <a:ext cx="338328" cy="338328"/>
          </a:xfrm>
          <a:prstGeom prst="ellipse">
            <a:avLst/>
          </a:prstGeom>
          <a:solidFill>
            <a:srgbClr val="B4530E"/>
          </a:solidFill>
          <a:ln w="12700">
            <a:solidFill>
              <a:srgbClr val="B4530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44475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78408" y="13533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Выбор линии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162763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совместно выбираем одну критичную линию или участок</a:t>
            </a:r>
            <a:endParaRPr lang="en-US" sz="1000" dirty="0"/>
          </a:p>
        </p:txBody>
      </p:sp>
      <p:sp>
        <p:nvSpPr>
          <p:cNvPr id="7" name="badge-2"/>
          <p:cNvSpPr/>
          <p:nvPr/>
        </p:nvSpPr>
        <p:spPr>
          <a:xfrm>
            <a:off x="502920" y="2011680"/>
            <a:ext cx="338328" cy="338328"/>
          </a:xfrm>
          <a:prstGeom prst="ellipse">
            <a:avLst/>
          </a:prstGeom>
          <a:solidFill>
            <a:srgbClr val="B4530E"/>
          </a:solidFill>
          <a:ln w="12700">
            <a:solidFill>
              <a:srgbClr val="B4530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0116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19202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Выезд и инвентаризация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1945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компонентов: фото шильдиков, маркировка, доступная документация</a:t>
            </a:r>
            <a:endParaRPr lang="en-US" sz="1000" dirty="0"/>
          </a:p>
        </p:txBody>
      </p:sp>
      <p:sp>
        <p:nvSpPr>
          <p:cNvPr id="11" name="badge-3"/>
          <p:cNvSpPr/>
          <p:nvPr/>
        </p:nvSpPr>
        <p:spPr>
          <a:xfrm>
            <a:off x="502920" y="2578608"/>
            <a:ext cx="338328" cy="338328"/>
          </a:xfrm>
          <a:prstGeom prst="ellipse">
            <a:avLst/>
          </a:prstGeom>
          <a:solidFill>
            <a:srgbClr val="B4530E"/>
          </a:solidFill>
          <a:ln w="12700">
            <a:solidFill>
              <a:srgbClr val="B4530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57860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" y="24871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жизненного цикла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78408" y="276148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выпускается ли, стадия, даты прекращения продаж и поддержки, преемник</a:t>
            </a:r>
            <a:endParaRPr lang="en-US" sz="1000" dirty="0"/>
          </a:p>
        </p:txBody>
      </p:sp>
      <p:sp>
        <p:nvSpPr>
          <p:cNvPr id="15" name="badge-4"/>
          <p:cNvSpPr/>
          <p:nvPr/>
        </p:nvSpPr>
        <p:spPr>
          <a:xfrm>
            <a:off x="502920" y="3145536"/>
            <a:ext cx="338328" cy="338328"/>
          </a:xfrm>
          <a:prstGeom prst="ellipse">
            <a:avLst/>
          </a:prstGeom>
          <a:solidFill>
            <a:srgbClr val="B4530E"/>
          </a:solidFill>
          <a:ln w="12700">
            <a:solidFill>
              <a:srgbClr val="B4530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1455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305409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реальной доступности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3328416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поставка в РФ и её срок, число каналов, ремонт, обмен, восстановленные решения</a:t>
            </a:r>
            <a:endParaRPr lang="en-US" sz="1000" dirty="0"/>
          </a:p>
        </p:txBody>
      </p:sp>
      <p:sp>
        <p:nvSpPr>
          <p:cNvPr id="19" name="badge-5"/>
          <p:cNvSpPr/>
          <p:nvPr/>
        </p:nvSpPr>
        <p:spPr>
          <a:xfrm>
            <a:off x="502920" y="3712464"/>
            <a:ext cx="338328" cy="338328"/>
          </a:xfrm>
          <a:prstGeom prst="ellipse">
            <a:avLst/>
          </a:prstGeom>
          <a:solidFill>
            <a:srgbClr val="B4530E"/>
          </a:solidFill>
          <a:ln w="12700">
            <a:solidFill>
              <a:srgbClr val="B4530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71246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" y="36210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Оценка критичности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3895344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вместе с инженером предприятия: останов, обходной режим, резервирование, backup</a:t>
            </a:r>
            <a:endParaRPr lang="en-US" sz="1000" dirty="0"/>
          </a:p>
        </p:txBody>
      </p:sp>
      <p:sp>
        <p:nvSpPr>
          <p:cNvPr id="23" name="badge-6"/>
          <p:cNvSpPr/>
          <p:nvPr/>
        </p:nvSpPr>
        <p:spPr>
          <a:xfrm>
            <a:off x="502920" y="4279392"/>
            <a:ext cx="338328" cy="338328"/>
          </a:xfrm>
          <a:prstGeom prst="ellipse">
            <a:avLst/>
          </a:prstGeom>
          <a:solidFill>
            <a:srgbClr val="B4530E"/>
          </a:solidFill>
          <a:ln w="12700">
            <a:solidFill>
              <a:srgbClr val="B4530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427939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78408" y="41879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Риск-скоринг и карта риска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78408" y="446227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приоритизация позиций по модели 0–100</a:t>
            </a:r>
            <a:endParaRPr lang="en-US" sz="1000" dirty="0"/>
          </a:p>
        </p:txBody>
      </p:sp>
      <p:sp>
        <p:nvSpPr>
          <p:cNvPr id="27" name="badge-7"/>
          <p:cNvSpPr/>
          <p:nvPr/>
        </p:nvSpPr>
        <p:spPr>
          <a:xfrm>
            <a:off x="502920" y="4846320"/>
            <a:ext cx="338328" cy="338328"/>
          </a:xfrm>
          <a:prstGeom prst="ellipse">
            <a:avLst/>
          </a:prstGeom>
          <a:solidFill>
            <a:srgbClr val="B4530E"/>
          </a:solidFill>
          <a:ln w="12700">
            <a:solidFill>
              <a:srgbClr val="B4530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48463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78408" y="47548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Рекомендации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78408" y="502920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действий на 3 / 12 / 24 месяца</a:t>
            </a:r>
            <a:endParaRPr lang="en-US" sz="1000" dirty="0"/>
          </a:p>
        </p:txBody>
      </p:sp>
      <p:sp>
        <p:nvSpPr>
          <p:cNvPr id="31" name="img-placeholder-s4"/>
          <p:cNvSpPr/>
          <p:nvPr/>
        </p:nvSpPr>
        <p:spPr>
          <a:xfrm>
            <a:off x="7818120" y="1335024"/>
            <a:ext cx="3870655" cy="2395728"/>
          </a:xfrm>
          <a:prstGeom prst="roundRect">
            <a:avLst>
              <a:gd name="adj" fmla="val 2290"/>
            </a:avLst>
          </a:prstGeom>
          <a:solidFill>
            <a:schemeClr val="bg2"/>
          </a:solidFill>
          <a:ln w="12700">
            <a:solidFill>
              <a:srgbClr val="DCE3EA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7982712" y="1335024"/>
            <a:ext cx="3541471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03 · 16:9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данных на линии: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шильдика, осмотр шкафа.</a:t>
            </a:r>
            <a:endParaRPr lang="en-US" sz="1000" dirty="0"/>
          </a:p>
        </p:txBody>
      </p:sp>
      <p:sp>
        <p:nvSpPr>
          <p:cNvPr id="33" name="card"/>
          <p:cNvSpPr/>
          <p:nvPr/>
        </p:nvSpPr>
        <p:spPr>
          <a:xfrm>
            <a:off x="7818120" y="3877056"/>
            <a:ext cx="3870655" cy="1389888"/>
          </a:xfrm>
          <a:prstGeom prst="roundRect">
            <a:avLst>
              <a:gd name="adj" fmla="val 3289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19288" y="3877056"/>
            <a:ext cx="3468319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spc="14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
</a:t>
            </a:r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2–3 часа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на площадке
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5 рабочих дней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анализ</a:t>
            </a:r>
            <a:endParaRPr lang="en-US" sz="950" dirty="0"/>
          </a:p>
        </p:txBody>
      </p:sp>
      <p:sp>
        <p:nvSpPr>
          <p:cNvPr id="35" name="safety"/>
          <p:cNvSpPr/>
          <p:nvPr/>
        </p:nvSpPr>
        <p:spPr>
          <a:xfrm>
            <a:off x="502920" y="5431536"/>
            <a:ext cx="11185855" cy="676656"/>
          </a:xfrm>
          <a:prstGeom prst="roundRect">
            <a:avLst>
              <a:gd name="adj" fmla="val 6757"/>
            </a:avLst>
          </a:prstGeom>
          <a:solidFill>
            <a:srgbClr val="F3EAE1"/>
          </a:solidFill>
          <a:ln w="9525">
            <a:solidFill>
              <a:srgbClr val="E2CDB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431536"/>
            <a:ext cx="106372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B45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 не затрагивается.  </a:t>
            </a:r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производственной сети, изменение программы ПЛК, правка настроек и остановка оборудования не требуются. Сбор данных — визуальный: шильдики, маркировка, доступная документация и интервью с инженером.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Метод оценки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3502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ВЕСА ФАКТОРОВ РИСК-СКОРИНГА, %</a:t>
            </a:r>
            <a:endParaRPr lang="en-US" sz="1000" dirty="0"/>
          </a:p>
        </p:txBody>
      </p:sp>
      <p:graphicFrame>
        <p:nvGraphicFramePr>
          <p:cNvPr id="4" name="risk-weights" descr=""/>
          <p:cNvGraphicFramePr/>
          <p:nvPr/>
        </p:nvGraphicFramePr>
        <p:xfrm>
          <a:off x="448056" y="1609344"/>
          <a:ext cx="6729984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mg-placeholder-s5"/>
          <p:cNvSpPr/>
          <p:nvPr/>
        </p:nvSpPr>
        <p:spPr>
          <a:xfrm>
            <a:off x="7470648" y="1335024"/>
            <a:ext cx="4218127" cy="1408176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12700">
            <a:solidFill>
              <a:srgbClr val="DCE3EA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7635240" y="1335024"/>
            <a:ext cx="3888943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04 · 16:9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Ряд модулей от нового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старому поколению.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470648" y="2871216"/>
            <a:ext cx="42181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КАТЕГОРИИ РИСКА</a:t>
            </a:r>
            <a:endParaRPr lang="en-US" sz="1000" dirty="0"/>
          </a:p>
        </p:txBody>
      </p:sp>
      <p:sp>
        <p:nvSpPr>
          <p:cNvPr id="8" name="cat-низкий"/>
          <p:cNvSpPr/>
          <p:nvPr/>
        </p:nvSpPr>
        <p:spPr>
          <a:xfrm>
            <a:off x="7470648" y="3127248"/>
            <a:ext cx="4218127" cy="347472"/>
          </a:xfrm>
          <a:prstGeom prst="roundRect">
            <a:avLst>
              <a:gd name="adj" fmla="val 10526"/>
            </a:avLst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53528" y="3127248"/>
            <a:ext cx="38523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0–34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низкий риск</a:t>
            </a:r>
            <a:endParaRPr lang="en-US" sz="1100" dirty="0"/>
          </a:p>
        </p:txBody>
      </p:sp>
      <p:sp>
        <p:nvSpPr>
          <p:cNvPr id="10" name="cat-средний"/>
          <p:cNvSpPr/>
          <p:nvPr/>
        </p:nvSpPr>
        <p:spPr>
          <a:xfrm>
            <a:off x="7470648" y="3529584"/>
            <a:ext cx="4218127" cy="347472"/>
          </a:xfrm>
          <a:prstGeom prst="roundRect">
            <a:avLst>
              <a:gd name="adj" fmla="val 10526"/>
            </a:avLst>
          </a:prstGeom>
          <a:solidFill>
            <a:srgbClr val="C98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53528" y="3529584"/>
            <a:ext cx="38523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35–64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средний риск</a:t>
            </a:r>
            <a:endParaRPr lang="en-US" sz="1100" dirty="0"/>
          </a:p>
        </p:txBody>
      </p:sp>
      <p:sp>
        <p:nvSpPr>
          <p:cNvPr id="12" name="cat-высокий"/>
          <p:cNvSpPr/>
          <p:nvPr/>
        </p:nvSpPr>
        <p:spPr>
          <a:xfrm>
            <a:off x="7470648" y="3931920"/>
            <a:ext cx="4218127" cy="347472"/>
          </a:xfrm>
          <a:prstGeom prst="roundRect">
            <a:avLst>
              <a:gd name="adj" fmla="val 10526"/>
            </a:avLst>
          </a:prstGeom>
          <a:solidFill>
            <a:srgbClr val="B33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53528" y="3931920"/>
            <a:ext cx="38523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65–100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высокий риск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451713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 ИСТОЧНИКОВ ДАННЫХ</a:t>
            </a:r>
            <a:endParaRPr lang="en-US" sz="1000" dirty="0"/>
          </a:p>
        </p:txBody>
      </p:sp>
      <p:sp>
        <p:nvSpPr>
          <p:cNvPr id="15" name="card"/>
          <p:cNvSpPr/>
          <p:nvPr/>
        </p:nvSpPr>
        <p:spPr>
          <a:xfrm>
            <a:off x="502920" y="4773168"/>
            <a:ext cx="2686736" cy="768096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badge-1"/>
          <p:cNvSpPr/>
          <p:nvPr/>
        </p:nvSpPr>
        <p:spPr>
          <a:xfrm>
            <a:off x="667512" y="4910328"/>
            <a:ext cx="274320" cy="274320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7512" y="4910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14984" y="4773168"/>
            <a:ext cx="2010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Официальная документация производителя</a:t>
            </a:r>
            <a:endParaRPr lang="en-US" sz="950" dirty="0"/>
          </a:p>
        </p:txBody>
      </p:sp>
      <p:sp>
        <p:nvSpPr>
          <p:cNvPr id="19" name="card"/>
          <p:cNvSpPr/>
          <p:nvPr/>
        </p:nvSpPr>
        <p:spPr>
          <a:xfrm>
            <a:off x="3335960" y="4773168"/>
            <a:ext cx="2686736" cy="768096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0" name="badge-2"/>
          <p:cNvSpPr/>
          <p:nvPr/>
        </p:nvSpPr>
        <p:spPr>
          <a:xfrm>
            <a:off x="3500552" y="4910328"/>
            <a:ext cx="274320" cy="274320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00552" y="4910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848024" y="4773168"/>
            <a:ext cx="2010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Официальные каталоги и lifecycle-страницы</a:t>
            </a:r>
            <a:endParaRPr lang="en-US" sz="950" dirty="0"/>
          </a:p>
        </p:txBody>
      </p:sp>
      <p:sp>
        <p:nvSpPr>
          <p:cNvPr id="23" name="card"/>
          <p:cNvSpPr/>
          <p:nvPr/>
        </p:nvSpPr>
        <p:spPr>
          <a:xfrm>
            <a:off x="6169000" y="4773168"/>
            <a:ext cx="2686736" cy="768096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4" name="badge-3"/>
          <p:cNvSpPr/>
          <p:nvPr/>
        </p:nvSpPr>
        <p:spPr>
          <a:xfrm>
            <a:off x="6333592" y="4910328"/>
            <a:ext cx="274320" cy="274320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33592" y="4910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681064" y="4773168"/>
            <a:ext cx="2010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Авторизованные и крупные каналы поставки</a:t>
            </a:r>
            <a:endParaRPr lang="en-US" sz="950" dirty="0"/>
          </a:p>
        </p:txBody>
      </p:sp>
      <p:sp>
        <p:nvSpPr>
          <p:cNvPr id="27" name="card"/>
          <p:cNvSpPr/>
          <p:nvPr/>
        </p:nvSpPr>
        <p:spPr>
          <a:xfrm>
            <a:off x="9002039" y="4773168"/>
            <a:ext cx="2686736" cy="768096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8" name="badge-4"/>
          <p:cNvSpPr/>
          <p:nvPr/>
        </p:nvSpPr>
        <p:spPr>
          <a:xfrm>
            <a:off x="9166631" y="4910328"/>
            <a:ext cx="274320" cy="274320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66631" y="4910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14103" y="4773168"/>
            <a:ext cx="2010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Независимые поставщики — только как доп. проверка рынка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568756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0–100 — рабочая и адаптируется под предприятие. </a:t>
            </a:r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балл приоритизирует внимание, а не прогнозирует вероятность отказа. По значимой позиции используем минимум 2–3 независимых сигнала о доступности: единичное предложение одного продавца за рыночную доступность не выдаём.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10896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выглядит результат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 рабочей таблицы реестра, отсортированный по риск-баллу. Условный пример формата.</a:t>
            </a:r>
            <a:endParaRPr lang="en-US" sz="1150" dirty="0"/>
          </a:p>
        </p:txBody>
      </p:sp>
      <p:graphicFrame>
        <p:nvGraphicFramePr>
          <p:cNvPr id="7" name="registry-exam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61872"/>
          <a:ext cx="11185855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901952"/>
                <a:gridCol w="1481328"/>
                <a:gridCol w="658368"/>
                <a:gridCol w="841248"/>
                <a:gridCol w="1572768"/>
                <a:gridCol w="640080"/>
                <a:gridCol w="3063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Позиция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Роль на линии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Резерв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Срок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поставки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Замена / ремонт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Риск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Рекомендуемое действие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PLC-01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управление участком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снят с производства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90+ дней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миграция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36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подготовить резерв + проект перехода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SERVO-04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подача и резка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снят с производства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60–90 дней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ремонт + обмен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36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найти обменный фонд, заложить ЗИП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HMI-02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операторская панель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устаревает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дней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преемник есть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 + наблюдение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I/O-05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модуль ввода-вывода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активен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день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преемник есть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оставить как есть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VFD-03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привод конвейера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активен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дней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ремонт доступен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оставить как есть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60273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МИНИ-HEATMAP: ВКЛАД ФАКТОРОВ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527048" y="389534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2363724" y="389534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EOL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389534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Поставка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4037076" y="389534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4873752" y="389534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Миграция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4169664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PLC-01</a:t>
            </a:r>
            <a:endParaRPr lang="en-US" sz="900" dirty="0"/>
          </a:p>
        </p:txBody>
      </p:sp>
      <p:sp>
        <p:nvSpPr>
          <p:cNvPr id="12" name="heat-PLC-01-0"/>
          <p:cNvSpPr/>
          <p:nvPr/>
        </p:nvSpPr>
        <p:spPr>
          <a:xfrm>
            <a:off x="1527048" y="4169664"/>
            <a:ext cx="786384" cy="274320"/>
          </a:xfrm>
          <a:prstGeom prst="rect">
            <a:avLst/>
          </a:prstGeom>
          <a:solidFill>
            <a:srgbClr val="B336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heat-PLC-01-1"/>
          <p:cNvSpPr/>
          <p:nvPr/>
        </p:nvSpPr>
        <p:spPr>
          <a:xfrm>
            <a:off x="2363724" y="4169664"/>
            <a:ext cx="786384" cy="274320"/>
          </a:xfrm>
          <a:prstGeom prst="rect">
            <a:avLst/>
          </a:prstGeom>
          <a:solidFill>
            <a:srgbClr val="B336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heat-PLC-01-2"/>
          <p:cNvSpPr/>
          <p:nvPr/>
        </p:nvSpPr>
        <p:spPr>
          <a:xfrm>
            <a:off x="3200400" y="4169664"/>
            <a:ext cx="786384" cy="274320"/>
          </a:xfrm>
          <a:prstGeom prst="rect">
            <a:avLst/>
          </a:prstGeom>
          <a:solidFill>
            <a:srgbClr val="B336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eat-PLC-01-3"/>
          <p:cNvSpPr/>
          <p:nvPr/>
        </p:nvSpPr>
        <p:spPr>
          <a:xfrm>
            <a:off x="4037076" y="4169664"/>
            <a:ext cx="786384" cy="274320"/>
          </a:xfrm>
          <a:prstGeom prst="rect">
            <a:avLst/>
          </a:prstGeom>
          <a:solidFill>
            <a:srgbClr val="B336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heat-PLC-01-4"/>
          <p:cNvSpPr/>
          <p:nvPr/>
        </p:nvSpPr>
        <p:spPr>
          <a:xfrm>
            <a:off x="4873752" y="4169664"/>
            <a:ext cx="786384" cy="274320"/>
          </a:xfrm>
          <a:prstGeom prst="rect">
            <a:avLst/>
          </a:prstGeom>
          <a:solidFill>
            <a:srgbClr val="C98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449427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SERVO-04</a:t>
            </a:r>
            <a:endParaRPr lang="en-US" sz="900" dirty="0"/>
          </a:p>
        </p:txBody>
      </p:sp>
      <p:sp>
        <p:nvSpPr>
          <p:cNvPr id="18" name="heat-SERVO-04-0"/>
          <p:cNvSpPr/>
          <p:nvPr/>
        </p:nvSpPr>
        <p:spPr>
          <a:xfrm>
            <a:off x="1527048" y="4494276"/>
            <a:ext cx="786384" cy="274320"/>
          </a:xfrm>
          <a:prstGeom prst="rect">
            <a:avLst/>
          </a:prstGeom>
          <a:solidFill>
            <a:srgbClr val="B336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heat-SERVO-04-1"/>
          <p:cNvSpPr/>
          <p:nvPr/>
        </p:nvSpPr>
        <p:spPr>
          <a:xfrm>
            <a:off x="2363724" y="4494276"/>
            <a:ext cx="786384" cy="274320"/>
          </a:xfrm>
          <a:prstGeom prst="rect">
            <a:avLst/>
          </a:prstGeom>
          <a:solidFill>
            <a:srgbClr val="B336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heat-SERVO-04-2"/>
          <p:cNvSpPr/>
          <p:nvPr/>
        </p:nvSpPr>
        <p:spPr>
          <a:xfrm>
            <a:off x="3200400" y="4494276"/>
            <a:ext cx="786384" cy="274320"/>
          </a:xfrm>
          <a:prstGeom prst="rect">
            <a:avLst/>
          </a:prstGeom>
          <a:solidFill>
            <a:srgbClr val="C98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heat-SERVO-04-3"/>
          <p:cNvSpPr/>
          <p:nvPr/>
        </p:nvSpPr>
        <p:spPr>
          <a:xfrm>
            <a:off x="4037076" y="4494276"/>
            <a:ext cx="786384" cy="274320"/>
          </a:xfrm>
          <a:prstGeom prst="rect">
            <a:avLst/>
          </a:prstGeom>
          <a:solidFill>
            <a:srgbClr val="B336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heat-SERVO-04-4"/>
          <p:cNvSpPr/>
          <p:nvPr/>
        </p:nvSpPr>
        <p:spPr>
          <a:xfrm>
            <a:off x="4873752" y="4494276"/>
            <a:ext cx="786384" cy="274320"/>
          </a:xfrm>
          <a:prstGeom prst="rect">
            <a:avLst/>
          </a:prstGeom>
          <a:solidFill>
            <a:srgbClr val="C98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481888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HMI-02</a:t>
            </a:r>
            <a:endParaRPr lang="en-US" sz="900" dirty="0"/>
          </a:p>
        </p:txBody>
      </p:sp>
      <p:sp>
        <p:nvSpPr>
          <p:cNvPr id="24" name="heat-HMI-02-0"/>
          <p:cNvSpPr/>
          <p:nvPr/>
        </p:nvSpPr>
        <p:spPr>
          <a:xfrm>
            <a:off x="1527048" y="4818888"/>
            <a:ext cx="786384" cy="274320"/>
          </a:xfrm>
          <a:prstGeom prst="rect">
            <a:avLst/>
          </a:prstGeom>
          <a:solidFill>
            <a:srgbClr val="C98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heat-HMI-02-1"/>
          <p:cNvSpPr/>
          <p:nvPr/>
        </p:nvSpPr>
        <p:spPr>
          <a:xfrm>
            <a:off x="2363724" y="4818888"/>
            <a:ext cx="786384" cy="274320"/>
          </a:xfrm>
          <a:prstGeom prst="rect">
            <a:avLst/>
          </a:prstGeom>
          <a:solidFill>
            <a:srgbClr val="C98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heat-HMI-02-2"/>
          <p:cNvSpPr/>
          <p:nvPr/>
        </p:nvSpPr>
        <p:spPr>
          <a:xfrm>
            <a:off x="3200400" y="4818888"/>
            <a:ext cx="786384" cy="274320"/>
          </a:xfrm>
          <a:prstGeom prst="rect">
            <a:avLst/>
          </a:prstGeom>
          <a:solidFill>
            <a:srgbClr val="C98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heat-HMI-02-3"/>
          <p:cNvSpPr/>
          <p:nvPr/>
        </p:nvSpPr>
        <p:spPr>
          <a:xfrm>
            <a:off x="4037076" y="4818888"/>
            <a:ext cx="786384" cy="274320"/>
          </a:xfrm>
          <a:prstGeom prst="rect">
            <a:avLst/>
          </a:prstGeom>
          <a:solidFill>
            <a:srgbClr val="2E7D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heat-HMI-02-4"/>
          <p:cNvSpPr/>
          <p:nvPr/>
        </p:nvSpPr>
        <p:spPr>
          <a:xfrm>
            <a:off x="4873752" y="4818888"/>
            <a:ext cx="786384" cy="274320"/>
          </a:xfrm>
          <a:prstGeom prst="rect">
            <a:avLst/>
          </a:prstGeom>
          <a:solidFill>
            <a:srgbClr val="2E7D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514350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I/O-05</a:t>
            </a:r>
            <a:endParaRPr lang="en-US" sz="900" dirty="0"/>
          </a:p>
        </p:txBody>
      </p:sp>
      <p:sp>
        <p:nvSpPr>
          <p:cNvPr id="30" name="heat-I/O-05-0"/>
          <p:cNvSpPr/>
          <p:nvPr/>
        </p:nvSpPr>
        <p:spPr>
          <a:xfrm>
            <a:off x="1527048" y="5143500"/>
            <a:ext cx="786384" cy="274320"/>
          </a:xfrm>
          <a:prstGeom prst="rect">
            <a:avLst/>
          </a:prstGeom>
          <a:solidFill>
            <a:srgbClr val="C98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heat-I/O-05-1"/>
          <p:cNvSpPr/>
          <p:nvPr/>
        </p:nvSpPr>
        <p:spPr>
          <a:xfrm>
            <a:off x="2363724" y="5143500"/>
            <a:ext cx="786384" cy="274320"/>
          </a:xfrm>
          <a:prstGeom prst="rect">
            <a:avLst/>
          </a:prstGeom>
          <a:solidFill>
            <a:srgbClr val="2E7D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heat-I/O-05-2"/>
          <p:cNvSpPr/>
          <p:nvPr/>
        </p:nvSpPr>
        <p:spPr>
          <a:xfrm>
            <a:off x="3200400" y="5143500"/>
            <a:ext cx="786384" cy="274320"/>
          </a:xfrm>
          <a:prstGeom prst="rect">
            <a:avLst/>
          </a:prstGeom>
          <a:solidFill>
            <a:srgbClr val="2E7D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heat-I/O-05-3"/>
          <p:cNvSpPr/>
          <p:nvPr/>
        </p:nvSpPr>
        <p:spPr>
          <a:xfrm>
            <a:off x="4037076" y="5143500"/>
            <a:ext cx="786384" cy="274320"/>
          </a:xfrm>
          <a:prstGeom prst="rect">
            <a:avLst/>
          </a:prstGeom>
          <a:solidFill>
            <a:srgbClr val="2E7D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heat-I/O-05-4"/>
          <p:cNvSpPr/>
          <p:nvPr/>
        </p:nvSpPr>
        <p:spPr>
          <a:xfrm>
            <a:off x="4873752" y="5143500"/>
            <a:ext cx="786384" cy="274320"/>
          </a:xfrm>
          <a:prstGeom prst="rect">
            <a:avLst/>
          </a:prstGeom>
          <a:solidFill>
            <a:srgbClr val="2E7D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2920" y="546811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VFD-03</a:t>
            </a:r>
            <a:endParaRPr lang="en-US" sz="900" dirty="0"/>
          </a:p>
        </p:txBody>
      </p:sp>
      <p:sp>
        <p:nvSpPr>
          <p:cNvPr id="36" name="heat-VFD-03-0"/>
          <p:cNvSpPr/>
          <p:nvPr/>
        </p:nvSpPr>
        <p:spPr>
          <a:xfrm>
            <a:off x="1527048" y="5468112"/>
            <a:ext cx="786384" cy="274320"/>
          </a:xfrm>
          <a:prstGeom prst="rect">
            <a:avLst/>
          </a:prstGeom>
          <a:solidFill>
            <a:srgbClr val="2E7D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heat-VFD-03-1"/>
          <p:cNvSpPr/>
          <p:nvPr/>
        </p:nvSpPr>
        <p:spPr>
          <a:xfrm>
            <a:off x="2363724" y="5468112"/>
            <a:ext cx="786384" cy="274320"/>
          </a:xfrm>
          <a:prstGeom prst="rect">
            <a:avLst/>
          </a:prstGeom>
          <a:solidFill>
            <a:srgbClr val="2E7D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heat-VFD-03-2"/>
          <p:cNvSpPr/>
          <p:nvPr/>
        </p:nvSpPr>
        <p:spPr>
          <a:xfrm>
            <a:off x="3200400" y="5468112"/>
            <a:ext cx="786384" cy="274320"/>
          </a:xfrm>
          <a:prstGeom prst="rect">
            <a:avLst/>
          </a:prstGeom>
          <a:solidFill>
            <a:srgbClr val="2E7D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heat-VFD-03-3"/>
          <p:cNvSpPr/>
          <p:nvPr/>
        </p:nvSpPr>
        <p:spPr>
          <a:xfrm>
            <a:off x="4037076" y="5468112"/>
            <a:ext cx="786384" cy="274320"/>
          </a:xfrm>
          <a:prstGeom prst="rect">
            <a:avLst/>
          </a:prstGeom>
          <a:solidFill>
            <a:srgbClr val="C98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heat-VFD-03-4"/>
          <p:cNvSpPr/>
          <p:nvPr/>
        </p:nvSpPr>
        <p:spPr>
          <a:xfrm>
            <a:off x="4873752" y="5468112"/>
            <a:ext cx="786384" cy="274320"/>
          </a:xfrm>
          <a:prstGeom prst="rect">
            <a:avLst/>
          </a:prstGeom>
          <a:solidFill>
            <a:srgbClr val="2E7D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card"/>
          <p:cNvSpPr/>
          <p:nvPr/>
        </p:nvSpPr>
        <p:spPr>
          <a:xfrm>
            <a:off x="6131052" y="3840480"/>
            <a:ext cx="5557723" cy="1901952"/>
          </a:xfrm>
          <a:prstGeom prst="roundRect">
            <a:avLst>
              <a:gd name="adj" fmla="val 2404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350508" y="3950208"/>
            <a:ext cx="51188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читать карту</a:t>
            </a:r>
            <a:endParaRPr lang="en-US" sz="1200" dirty="0"/>
          </a:p>
        </p:txBody>
      </p:sp>
      <p:sp>
        <p:nvSpPr>
          <p:cNvPr id="43" name="legend-0"/>
          <p:cNvSpPr/>
          <p:nvPr/>
        </p:nvSpPr>
        <p:spPr>
          <a:xfrm>
            <a:off x="6350508" y="4329684"/>
            <a:ext cx="182880" cy="182880"/>
          </a:xfrm>
          <a:prstGeom prst="rect">
            <a:avLst/>
          </a:prstGeom>
          <a:solidFill>
            <a:srgbClr val="B33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624828" y="4279392"/>
            <a:ext cx="4844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риск — действовать сейчас</a:t>
            </a:r>
            <a:endParaRPr lang="en-US" sz="1050" dirty="0"/>
          </a:p>
        </p:txBody>
      </p:sp>
      <p:sp>
        <p:nvSpPr>
          <p:cNvPr id="45" name="legend-1"/>
          <p:cNvSpPr/>
          <p:nvPr/>
        </p:nvSpPr>
        <p:spPr>
          <a:xfrm>
            <a:off x="6350508" y="4622292"/>
            <a:ext cx="182880" cy="182880"/>
          </a:xfrm>
          <a:prstGeom prst="rect">
            <a:avLst/>
          </a:prstGeom>
          <a:solidFill>
            <a:srgbClr val="C98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624828" y="4572000"/>
            <a:ext cx="4844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риск — планировать</a:t>
            </a:r>
            <a:endParaRPr lang="en-US" sz="1050" dirty="0"/>
          </a:p>
        </p:txBody>
      </p:sp>
      <p:sp>
        <p:nvSpPr>
          <p:cNvPr id="47" name="legend-2"/>
          <p:cNvSpPr/>
          <p:nvPr/>
        </p:nvSpPr>
        <p:spPr>
          <a:xfrm>
            <a:off x="6350508" y="4914900"/>
            <a:ext cx="182880" cy="182880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624828" y="4864608"/>
            <a:ext cx="4844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риск — эксплуатировать как есть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6350508" y="5175504"/>
            <a:ext cx="51188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 и цвет говорят, с какой позиции начинать, а не предсказывают отказ. Строка становится задачей: держать запас, сделать backup, искать заранее, ремонтировать или готовить миграцию.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502920" y="590702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Условный пример. Обозначения обезличены. Фактические выводы формируются только после инвентаризации и проверки источников.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предприятие получает после пилота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02920" y="1335024"/>
            <a:ext cx="3401568" cy="1901952"/>
          </a:xfrm>
          <a:prstGeom prst="roundRect">
            <a:avLst>
              <a:gd name="adj" fmla="val 2404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" name="badge-1"/>
          <p:cNvSpPr/>
          <p:nvPr/>
        </p:nvSpPr>
        <p:spPr>
          <a:xfrm>
            <a:off x="722376" y="1536192"/>
            <a:ext cx="329184" cy="329184"/>
          </a:xfrm>
          <a:prstGeom prst="ellipse">
            <a:avLst/>
          </a:prstGeom>
          <a:solidFill>
            <a:srgbClr val="B4530E"/>
          </a:solidFill>
          <a:ln w="12700">
            <a:solidFill>
              <a:srgbClr val="B4530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22376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1790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Реестр компонентов линии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011680"/>
            <a:ext cx="29626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позиций, 19 полей: производитель, модель, ревизия, статус жизненного цикла, EOL, критичность, резерв, backup, срок поставки, ремонт, преемник, сложность миграции, риск-балл, действие и его горизонт.</a:t>
            </a:r>
            <a:endParaRPr lang="en-US" sz="1050" dirty="0"/>
          </a:p>
        </p:txBody>
      </p:sp>
      <p:sp>
        <p:nvSpPr>
          <p:cNvPr id="8" name="card"/>
          <p:cNvSpPr/>
          <p:nvPr/>
        </p:nvSpPr>
        <p:spPr>
          <a:xfrm>
            <a:off x="4069080" y="1335024"/>
            <a:ext cx="3401568" cy="1901952"/>
          </a:xfrm>
          <a:prstGeom prst="roundRect">
            <a:avLst>
              <a:gd name="adj" fmla="val 2404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9" name="badge-2"/>
          <p:cNvSpPr/>
          <p:nvPr/>
        </p:nvSpPr>
        <p:spPr>
          <a:xfrm>
            <a:off x="4288536" y="1536192"/>
            <a:ext cx="329184" cy="329184"/>
          </a:xfrm>
          <a:prstGeom prst="ellipse">
            <a:avLst/>
          </a:prstGeom>
          <a:solidFill>
            <a:srgbClr val="B4530E"/>
          </a:solidFill>
          <a:ln w="12700">
            <a:solidFill>
              <a:srgbClr val="B4530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88536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151790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Карта риска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288536" y="2011680"/>
            <a:ext cx="29626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эксплуатировать без специальных действий, что держать в аварийном запасе, что искать заранее, где сделать backup, где проработать замену и где целесообразен проект миграции.</a:t>
            </a:r>
            <a:endParaRPr lang="en-US" sz="1050" dirty="0"/>
          </a:p>
        </p:txBody>
      </p:sp>
      <p:sp>
        <p:nvSpPr>
          <p:cNvPr id="13" name="card"/>
          <p:cNvSpPr/>
          <p:nvPr/>
        </p:nvSpPr>
        <p:spPr>
          <a:xfrm>
            <a:off x="502920" y="3401568"/>
            <a:ext cx="3401568" cy="1901952"/>
          </a:xfrm>
          <a:prstGeom prst="roundRect">
            <a:avLst>
              <a:gd name="adj" fmla="val 2404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4" name="badge-3"/>
          <p:cNvSpPr/>
          <p:nvPr/>
        </p:nvSpPr>
        <p:spPr>
          <a:xfrm>
            <a:off x="722376" y="3602736"/>
            <a:ext cx="329184" cy="329184"/>
          </a:xfrm>
          <a:prstGeom prst="ellipse">
            <a:avLst/>
          </a:prstGeom>
          <a:solidFill>
            <a:srgbClr val="B4530E"/>
          </a:solidFill>
          <a:ln w="12700">
            <a:solidFill>
              <a:srgbClr val="B4530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5844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действий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22376" y="4078224"/>
            <a:ext cx="29626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рискованных позиций, позиции для аварийного резерва, позиции без backup, кандидаты на миграцию и рекомендуемый порядок на 3 / 12 / 24 месяца.</a:t>
            </a:r>
            <a:endParaRPr lang="en-US" sz="1050" dirty="0"/>
          </a:p>
        </p:txBody>
      </p:sp>
      <p:sp>
        <p:nvSpPr>
          <p:cNvPr id="18" name="card"/>
          <p:cNvSpPr/>
          <p:nvPr/>
        </p:nvSpPr>
        <p:spPr>
          <a:xfrm>
            <a:off x="4069080" y="3401568"/>
            <a:ext cx="3401568" cy="1901952"/>
          </a:xfrm>
          <a:prstGeom prst="roundRect">
            <a:avLst>
              <a:gd name="adj" fmla="val 2404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9" name="badge-4"/>
          <p:cNvSpPr/>
          <p:nvPr/>
        </p:nvSpPr>
        <p:spPr>
          <a:xfrm>
            <a:off x="4288536" y="3602736"/>
            <a:ext cx="329184" cy="329184"/>
          </a:xfrm>
          <a:prstGeom prst="ellipse">
            <a:avLst/>
          </a:prstGeom>
          <a:solidFill>
            <a:srgbClr val="B4530E"/>
          </a:solidFill>
          <a:ln w="12700">
            <a:solidFill>
              <a:srgbClr val="B4530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88536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35844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Перечень недостающих данных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288536" y="4078224"/>
            <a:ext cx="29626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не хватает для безопасной эксплуатации и миграции: версий прошивок, ревизий, backup программ и параметров, истории закупок и фактических сроков поставки.</a:t>
            </a:r>
            <a:endParaRPr lang="en-US" sz="1050" dirty="0"/>
          </a:p>
        </p:txBody>
      </p:sp>
      <p:sp>
        <p:nvSpPr>
          <p:cNvPr id="23" name="img-placeholder-s7"/>
          <p:cNvSpPr/>
          <p:nvPr/>
        </p:nvSpPr>
        <p:spPr>
          <a:xfrm>
            <a:off x="7744968" y="1335024"/>
            <a:ext cx="3943807" cy="2322576"/>
          </a:xfrm>
          <a:prstGeom prst="roundRect">
            <a:avLst>
              <a:gd name="adj" fmla="val 2362"/>
            </a:avLst>
          </a:prstGeom>
          <a:solidFill>
            <a:schemeClr val="bg2"/>
          </a:solidFill>
          <a:ln w="12700">
            <a:solidFill>
              <a:srgbClr val="DCE3EA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7909560" y="1335024"/>
            <a:ext cx="3614623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05 · 16:9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 у монитора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картой риска.</a:t>
            </a:r>
            <a:endParaRPr lang="en-US" sz="1000" dirty="0"/>
          </a:p>
        </p:txBody>
      </p:sp>
      <p:sp>
        <p:nvSpPr>
          <p:cNvPr id="25" name="card"/>
          <p:cNvSpPr/>
          <p:nvPr/>
        </p:nvSpPr>
        <p:spPr>
          <a:xfrm>
            <a:off x="7744968" y="3803904"/>
            <a:ext cx="3943807" cy="1499616"/>
          </a:xfrm>
          <a:prstGeom prst="roundRect">
            <a:avLst>
              <a:gd name="adj" fmla="val 3049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46136" y="3803904"/>
            <a:ext cx="3541471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Если дадите данные закупок
</a:t>
            </a:r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реестр попадут фактические сроки поставки и история доступности позиций — это самый сильный аргумент при расчёте аварийного запаса.</a:t>
            </a:r>
            <a:endParaRPr lang="en-US" sz="1150" dirty="0"/>
          </a:p>
        </p:txBody>
      </p:sp>
      <p:sp>
        <p:nvSpPr>
          <p:cNvPr id="27" name="after"/>
          <p:cNvSpPr/>
          <p:nvPr/>
        </p:nvSpPr>
        <p:spPr>
          <a:xfrm>
            <a:off x="502920" y="5431536"/>
            <a:ext cx="11185855" cy="585216"/>
          </a:xfrm>
          <a:prstGeom prst="roundRect">
            <a:avLst>
              <a:gd name="adj" fmla="val 7813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5431536"/>
            <a:ext cx="1067379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рабочий инструмент службы АСУ ТП и КИПиА: не текстовый отчёт, а таблица, по которой можно планировать закупку, резерв и модернизацию.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</a:t>
            </a:r>
            <a:endParaRPr lang="en-US" sz="3000" dirty="0"/>
          </a:p>
        </p:txBody>
      </p:sp>
      <p:sp>
        <p:nvSpPr>
          <p:cNvPr id="3" name="tile-0"/>
          <p:cNvSpPr/>
          <p:nvPr/>
        </p:nvSpPr>
        <p:spPr>
          <a:xfrm>
            <a:off x="502920" y="1335024"/>
            <a:ext cx="3594506" cy="1316736"/>
          </a:xfrm>
          <a:prstGeom prst="roundRect">
            <a:avLst>
              <a:gd name="adj" fmla="val 4167"/>
            </a:avLst>
          </a:prstGeom>
          <a:solidFill>
            <a:srgbClr val="B4530E"/>
          </a:solidFill>
          <a:ln w="9525">
            <a:solidFill>
              <a:srgbClr val="B4530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" y="1481328"/>
            <a:ext cx="31190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₽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40664" y="2157984"/>
            <a:ext cx="31190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6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пилота</a:t>
            </a:r>
            <a:endParaRPr lang="en-US" sz="1150" dirty="0"/>
          </a:p>
        </p:txBody>
      </p:sp>
      <p:sp>
        <p:nvSpPr>
          <p:cNvPr id="6" name="tile-1"/>
          <p:cNvSpPr/>
          <p:nvPr/>
        </p:nvSpPr>
        <p:spPr>
          <a:xfrm>
            <a:off x="4298594" y="1335024"/>
            <a:ext cx="3594506" cy="1316736"/>
          </a:xfrm>
          <a:prstGeom prst="roundRect">
            <a:avLst>
              <a:gd name="adj" fmla="val 4167"/>
            </a:avLst>
          </a:prstGeom>
          <a:solidFill>
            <a:srgbClr val="263241"/>
          </a:solidFill>
          <a:ln w="9525">
            <a:solidFill>
              <a:srgbClr val="3341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36338" y="1481328"/>
            <a:ext cx="31190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2–3 часа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536338" y="2157984"/>
            <a:ext cx="31190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площадке, ориентир</a:t>
            </a:r>
            <a:endParaRPr lang="en-US" sz="1150" dirty="0"/>
          </a:p>
        </p:txBody>
      </p:sp>
      <p:sp>
        <p:nvSpPr>
          <p:cNvPr id="9" name="tile-2"/>
          <p:cNvSpPr/>
          <p:nvPr/>
        </p:nvSpPr>
        <p:spPr>
          <a:xfrm>
            <a:off x="8094269" y="1335024"/>
            <a:ext cx="3594506" cy="1316736"/>
          </a:xfrm>
          <a:prstGeom prst="roundRect">
            <a:avLst>
              <a:gd name="adj" fmla="val 4167"/>
            </a:avLst>
          </a:prstGeom>
          <a:solidFill>
            <a:srgbClr val="263241"/>
          </a:solidFill>
          <a:ln w="9525">
            <a:solidFill>
              <a:srgbClr val="334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2013" y="1481328"/>
            <a:ext cx="31190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32013" y="2157984"/>
            <a:ext cx="31190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рабочих дней на анализ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889504"/>
            <a:ext cx="545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E08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ПИЛОТА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" y="3200400"/>
            <a:ext cx="538261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линия или участок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компонентов автоматики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выезд на площадку и инвентаризация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жизненного цикла и доступности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риска и рекомендации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889504"/>
            <a:ext cx="545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E08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ОТ ПРЕДПРИЯТИЯ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69584" y="3200400"/>
            <a:ext cx="538261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сопровождающий инженер АСУ ТП или КИПиА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маркировке и шильдикам компонентов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доступная эксплуатационная документация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закупок — при наличии и желании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выбранная линия и согласованная дата</a:t>
            </a:r>
            <a:endParaRPr lang="en-US" sz="1250" dirty="0"/>
          </a:p>
        </p:txBody>
      </p:sp>
      <p:sp>
        <p:nvSpPr>
          <p:cNvPr id="16" name="cta"/>
          <p:cNvSpPr/>
          <p:nvPr/>
        </p:nvSpPr>
        <p:spPr>
          <a:xfrm>
            <a:off x="502920" y="5157216"/>
            <a:ext cx="11185855" cy="932688"/>
          </a:xfrm>
          <a:prstGeom prst="roundRect">
            <a:avLst>
              <a:gd name="adj" fmla="val 5882"/>
            </a:avLst>
          </a:prstGeom>
          <a:solidFill>
            <a:srgbClr val="B4530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157216"/>
            <a:ext cx="1045433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Выбрать одну критичную линию и согласовать дату выезда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6C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6576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дальше, если результат полезен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02920" y="1335024"/>
            <a:ext cx="7077456" cy="1225296"/>
          </a:xfrm>
          <a:prstGeom prst="roundRect">
            <a:avLst>
              <a:gd name="adj" fmla="val 3731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" name="badge-A"/>
          <p:cNvSpPr/>
          <p:nvPr/>
        </p:nvSpPr>
        <p:spPr>
          <a:xfrm>
            <a:off x="740664" y="1554480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9304" y="1499616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 линия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58968" y="148132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100–150 тыс. ₽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9304" y="1865376"/>
            <a:ext cx="6053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Расширенная инвентаризация, полный реестр, карта риска, план резервов и миграции.</a:t>
            </a:r>
            <a:endParaRPr lang="en-US" sz="1050" dirty="0"/>
          </a:p>
        </p:txBody>
      </p:sp>
      <p:sp>
        <p:nvSpPr>
          <p:cNvPr id="9" name="card"/>
          <p:cNvSpPr/>
          <p:nvPr/>
        </p:nvSpPr>
        <p:spPr>
          <a:xfrm>
            <a:off x="502920" y="2688336"/>
            <a:ext cx="7077456" cy="1225296"/>
          </a:xfrm>
          <a:prstGeom prst="roundRect">
            <a:avLst>
              <a:gd name="adj" fmla="val 3731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badge-B"/>
          <p:cNvSpPr/>
          <p:nvPr/>
        </p:nvSpPr>
        <p:spPr>
          <a:xfrm>
            <a:off x="740664" y="2907792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9304" y="2852928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Участок или несколько линий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58968" y="283464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200–300 тыс. ₽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218688"/>
            <a:ext cx="6053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линий, объединённый реестр, приоритизация по участку, рекомендации по резерву и миграциям.</a:t>
            </a:r>
            <a:endParaRPr lang="en-US" sz="1050" dirty="0"/>
          </a:p>
        </p:txBody>
      </p:sp>
      <p:sp>
        <p:nvSpPr>
          <p:cNvPr id="15" name="card"/>
          <p:cNvSpPr/>
          <p:nvPr/>
        </p:nvSpPr>
        <p:spPr>
          <a:xfrm>
            <a:off x="502920" y="4041648"/>
            <a:ext cx="7077456" cy="1225296"/>
          </a:xfrm>
          <a:prstGeom prst="roundRect">
            <a:avLst>
              <a:gd name="adj" fmla="val 3731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40664" y="4261104"/>
            <a:ext cx="420624" cy="420624"/>
          </a:xfrm>
          <a:prstGeom prst="ellipse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9304" y="4206240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Площадка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58968" y="418795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400–500 тыс. ₽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9304" y="4572000"/>
            <a:ext cx="6053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Расширенный парк автоматики, приоритетный реестр, дорожная карта и правила регулярного обновления.</a:t>
            </a:r>
            <a:endParaRPr lang="en-US" sz="1050" dirty="0"/>
          </a:p>
        </p:txBody>
      </p:sp>
      <p:sp>
        <p:nvSpPr>
          <p:cNvPr id="21" name="img-placeholder-s9"/>
          <p:cNvSpPr/>
          <p:nvPr/>
        </p:nvSpPr>
        <p:spPr>
          <a:xfrm>
            <a:off x="7854696" y="1335024"/>
            <a:ext cx="3834079" cy="2304288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rgbClr val="DCE3EA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019288" y="1335024"/>
            <a:ext cx="3504895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06 · 4:3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 / ремонтный стенд /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модуль замены.</a:t>
            </a:r>
            <a:endParaRPr lang="en-US" sz="1000" dirty="0"/>
          </a:p>
        </p:txBody>
      </p:sp>
      <p:sp>
        <p:nvSpPr>
          <p:cNvPr id="23" name="sequence"/>
          <p:cNvSpPr/>
          <p:nvPr/>
        </p:nvSpPr>
        <p:spPr>
          <a:xfrm>
            <a:off x="7854696" y="3785616"/>
            <a:ext cx="3834079" cy="1481328"/>
          </a:xfrm>
          <a:prstGeom prst="roundRect">
            <a:avLst>
              <a:gd name="adj" fmla="val 3704"/>
            </a:avLst>
          </a:prstGeom>
          <a:solidFill>
            <a:schemeClr val="tx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74152" y="3785616"/>
            <a:ext cx="3395167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150" kern="0" dirty="0">
                <a:solidFill>
                  <a:srgbClr val="E08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
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Бесплатный пилот
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8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
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 предприятия
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A8B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
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Платный этап и его объём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5431536"/>
            <a:ext cx="111858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Ориентир, а не оферта.  </a:t>
            </a:r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Точная стоимость зависит от количества компонентов, числа линий, доступности исходных данных и требуемой глубины анализа. Объём платного этапа определяется после пилота — по его фактическим результатам.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10896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Приложение: источники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факты, использованные в презентации. Ссылки приведены для проверки.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543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ФАКТЫ О «АКУЛЬЧЕВ»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91056"/>
            <a:ext cx="543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Интервью С. Акульчева, «Бизнес Online»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10512"/>
            <a:ext cx="543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business-gazeta.ru/article/619038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002536"/>
            <a:ext cx="543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автоматизации 50% и план 80%; прекращение поддержки ПО западными компаниями; закупки оборудования в Германии, Швейцарии, Австрии, Италии; рост сроков и цен на запчасти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414016"/>
            <a:ext cx="543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Обзор пищепрома РТ под санкциями, «Бизнес Online»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633472"/>
            <a:ext cx="543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business-gazeta.ru/article/544823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825496"/>
            <a:ext cx="543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импортное оборудование: Австрия, Нидерланды, Франция, Италия, Германия; запас запчастей около полугода; логистика дороже примерно в 1,5 раза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236976"/>
            <a:ext cx="543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Профиль работодателя и вакансии техблока, hh.ru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456432"/>
            <a:ext cx="543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hh.ru/employer/22212 · hh.ru/vacancy/135152103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648456"/>
            <a:ext cx="543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производственные площадки, более 800 сотрудников; наладка и ремонт оборудования, поиск причин раннего износа, профилактика поломок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059936"/>
            <a:ext cx="543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Восстановление производства после пожара, retail.ru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279392"/>
            <a:ext cx="543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retail.ru (пресс-релиз ТД «Акульчев»)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471416"/>
            <a:ext cx="543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млн ₽ на восстановление; закупка нового оборудования и автоматизация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882896"/>
            <a:ext cx="543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Покупка фабрики «Колос», «Бизнес Online» / «Коммерсантъ»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102352"/>
            <a:ext cx="543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business-gazeta.ru/article/690353 · kommersant.ru/doc/8293536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294376"/>
            <a:ext cx="543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ПТК «Колос» с ноября 2025 года; планы модернизации производства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251296" y="1280160"/>
            <a:ext cx="543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МЕТОДИКА И РЫНОК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51296" y="1591056"/>
            <a:ext cx="543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ГОСТ Р 70383-2022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51296" y="1810512"/>
            <a:ext cx="543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elec.ru/library/gosts_e08/gost-r-70383-2022/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251296" y="2002536"/>
            <a:ext cx="543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реактивное, проактивное и стратегическое управление устареванием для промышленных предприятий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251296" y="2414016"/>
            <a:ext cx="543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ГОСТ Р 70370-2022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251296" y="2633472"/>
            <a:ext cx="543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protect.gost.ru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251296" y="2825496"/>
            <a:ext cx="543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к обмену данными об изменениях номенклатуры и прекращении производства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251296" y="3236976"/>
            <a:ext cx="543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Б1 — рынок промышленной автоматизации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251296" y="3456432"/>
            <a:ext cx="543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vedomosti.ru/technology/articles/2025/03/26/1100515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251296" y="3648456"/>
            <a:ext cx="543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млрд ₽ в 2024 году, прогноз 207 млрд ₽ к 2030 году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251296" y="4059936"/>
            <a:ext cx="543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Рынок АСУ ТП РФ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251296" y="4279392"/>
            <a:ext cx="543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vedomosti.ru/business/articles/2025/02/12/1091601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251296" y="4471416"/>
            <a:ext cx="543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124,1 млрд ₽ в 2024 году против 82,9 млрд ₽ в 2023-м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251296" y="4882896"/>
            <a:ext cx="543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Бенчмарки подхода: Radwell, Rockwell, EU Automation, ABB, Schneider Electric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251296" y="5102352"/>
            <a:ext cx="543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radwell.com/ALA · rockwellautomation.com · euautomation.com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251296" y="5294376"/>
            <a:ext cx="543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установленной базы, риск устаревания, оптимизация ЗИП, lifecycle-статусы и миграционные программы</a:t>
            </a:r>
            <a:endParaRPr lang="en-US" sz="900" dirty="0"/>
          </a:p>
        </p:txBody>
      </p:sp>
      <p:sp>
        <p:nvSpPr>
          <p:cNvPr id="36" name="disclaimer"/>
          <p:cNvSpPr/>
          <p:nvPr/>
        </p:nvSpPr>
        <p:spPr>
          <a:xfrm>
            <a:off x="502920" y="5742432"/>
            <a:ext cx="11185855" cy="512064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0664" y="5742432"/>
            <a:ext cx="107103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 достоверности.  </a:t>
            </a:r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Выше — публичные факты о предприятии и нормативно-рыночный контекст. Конкретный установленный парк автоматики «Акульчев» публично не подтверждён и в презентации не предполагается: он и является предметом инвентаризации.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kulchev Automation Risk">
  <a:themeElements>
    <a:clrScheme name="Akulchev Automation Risk">
      <a:dk1>
        <a:srgbClr val="1B2430"/>
      </a:dk1>
      <a:lt1>
        <a:srgbClr val="FFFFFF"/>
      </a:lt1>
      <a:dk2>
        <a:srgbClr val="55657A"/>
      </a:dk2>
      <a:lt2>
        <a:srgbClr val="F1F4F7"/>
      </a:lt2>
      <a:accent1>
        <a:srgbClr val="B4530E"/>
      </a:accent1>
      <a:accent2>
        <a:srgbClr val="E08B3C"/>
      </a:accent2>
      <a:accent3>
        <a:srgbClr val="2E7D52"/>
      </a:accent3>
      <a:accent4>
        <a:srgbClr val="C98A00"/>
      </a:accent4>
      <a:accent5>
        <a:srgbClr val="B3362A"/>
      </a:accent5>
      <a:accent6>
        <a:srgbClr val="1F6F8B"/>
      </a:accent6>
      <a:hlink>
        <a:srgbClr val="1F6F8B"/>
      </a:hlink>
      <a:folHlink>
        <a:srgbClr val="8A99A8"/>
      </a:folHlink>
    </a:clrScheme>
    <a:fontScheme name="Akulchev Automation Risk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Карта риска промышленной автоматики одной линии</dc:title>
  <dc:subject>Бесплатный пилот для «Акульчев»</dc:subject>
  <dc:creator>Пилотный аудит жизненного цикла промышленной автоматики</dc:creator>
  <cp:lastModifiedBy>Пилотный аудит жизненного цикла промышленной автоматики</cp:lastModifiedBy>
  <cp:revision>1</cp:revision>
  <dcterms:created xsi:type="dcterms:W3CDTF">2026-10-08T12:38:35Z</dcterms:created>
  <dcterms:modified xsi:type="dcterms:W3CDTF">2026-10-08T12:38:35Z</dcterms:modified>
</cp:coreProperties>
</file>