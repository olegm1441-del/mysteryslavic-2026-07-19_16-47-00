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75000"/>
            </a:srgbClr>
          </a:solidFill>
          <a:ln/>
        </p:spPr>
      </p:sp>
      <p:pic>
        <p:nvPicPr>
          <p:cNvPr id="3" name="Image 0" descr="/home/user/mysteryslavic-2026-07-19_16-47-00/presentations/office-client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63040" y="6583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ПРОДАЙ ЗА МЕНЯ · КАЗАНЬ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7863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000" b="1" spc="-5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ОСВОБОДИМ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spc="-5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ОФИС</a:t>
            </a:r>
            <a:endParaRPr lang="en-US" sz="50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000" b="1" spc="-5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 КЛЮЧ</a:t>
            </a:r>
            <a:endParaRPr lang="en-US" sz="5000" dirty="0"/>
          </a:p>
        </p:txBody>
      </p:sp>
      <p:sp>
        <p:nvSpPr>
          <p:cNvPr id="6" name="Shape 3"/>
          <p:cNvSpPr/>
          <p:nvPr/>
        </p:nvSpPr>
        <p:spPr>
          <a:xfrm>
            <a:off x="777240" y="4526280"/>
            <a:ext cx="1371600" cy="32004"/>
          </a:xfrm>
          <a:prstGeom prst="rect">
            <a:avLst/>
          </a:prstGeom>
          <a:solidFill>
            <a:srgbClr val="C89B4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4828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spc="6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ЗА ИМУЩЕСТВО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59612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220" kern="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ПОДРЯДЧИК ВМЕСТО ДЕСЯТИ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0710367" y="6291072"/>
            <a:ext cx="704088" cy="274320"/>
          </a:xfrm>
          <a:prstGeom prst="roundRect">
            <a:avLst>
              <a:gd name="adj" fmla="val 16667"/>
            </a:avLst>
          </a:prstGeom>
          <a:solidFill>
            <a:srgbClr val="13252F"/>
          </a:solidFill>
          <a:ln w="9525">
            <a:solidFill>
              <a:srgbClr val="6E542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710367" y="629107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548640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ОФИСНЫЙ ВЫЕЗД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024128"/>
            <a:ext cx="9692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 ОФИСА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ПОЕДЕТ С ВАМИ?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77240" y="3200400"/>
            <a:ext cx="1280160" cy="32004"/>
          </a:xfrm>
          <a:prstGeom prst="rect">
            <a:avLst/>
          </a:prstGeom>
          <a:solidFill>
            <a:srgbClr val="C89B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511296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забираете — вы уже решили.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Остальное осталось вашей задачей.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12080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ПЕРЕЕЗД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5596128"/>
            <a:ext cx="233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часть не влезет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новый офис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90240" y="5230368"/>
            <a:ext cx="9144" cy="914400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36544" y="5212080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СОКРАЩЕНИЕ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36544" y="5596128"/>
            <a:ext cx="233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70 мест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нужны 35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9544" y="5230368"/>
            <a:ext cx="9144" cy="914400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95848" y="5212080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ЗАКРЫТИЕ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095848" y="5596128"/>
            <a:ext cx="233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нового помещения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нет вообще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08847" y="5230368"/>
            <a:ext cx="9144" cy="914400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55151" y="5212080"/>
            <a:ext cx="233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ОБНОВЛЕНИЕ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755151" y="5596128"/>
            <a:ext cx="2339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старая мебель и ИТ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высвобождаются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0710367" y="6291072"/>
            <a:ext cx="704088" cy="274320"/>
          </a:xfrm>
          <a:prstGeom prst="roundRect">
            <a:avLst>
              <a:gd name="adj" fmla="val 16667"/>
            </a:avLst>
          </a:prstGeom>
          <a:solidFill>
            <a:srgbClr val="13252F"/>
          </a:solidFill>
          <a:ln w="9525">
            <a:solidFill>
              <a:srgbClr val="6E54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710367" y="629107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21792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ГЛАВНАЯ ПРОБЛЕМА ОФИСНОГО ВЫЕЗДА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60704"/>
            <a:ext cx="5760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ПОСЛЕДНИЙ ШКАФ</a:t>
            </a:r>
            <a:endParaRPr lang="en-US" sz="33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БЛОКИРУЕТ АКТ</a:t>
            </a:r>
            <a:endParaRPr lang="en-US" sz="33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3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ТАК ЖЕ, КАК ВЕСЬ ОФИС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40156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Ноутбуки и серверы уедут. Останется хвост: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4048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столов  ·  17 кресел  ·  3 шкафа  ·  2 тумбы  ·  МФУ  ·  микроволновка  ·  стойка ресепшен  ·  ковролин  ·  доска  ·  кабели  ·  коробки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5486400"/>
            <a:ext cx="5577840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5687568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 отдельности — терпимо.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Вместе — десятки решений и сорванный срок.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903720" y="777240"/>
            <a:ext cx="4507992" cy="5303520"/>
          </a:xfrm>
          <a:prstGeom prst="roundRect">
            <a:avLst>
              <a:gd name="adj" fmla="val 1217"/>
            </a:avLst>
          </a:prstGeom>
          <a:solidFill>
            <a:srgbClr val="13252F"/>
          </a:solidFill>
          <a:ln w="12700">
            <a:solidFill>
              <a:srgbClr val="6E5426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903720" y="3044952"/>
            <a:ext cx="4507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3429000"/>
            <a:ext cx="3959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почти пустой офис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оставшийся хвост в углу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566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ПУТИ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252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решения «что забираем» вариантов ровно три</a:t>
            </a:r>
            <a:endParaRPr lang="en-US" sz="1500" dirty="0"/>
          </a:p>
        </p:txBody>
      </p:sp>
      <p:pic>
        <p:nvPicPr>
          <p:cNvPr id="5" name="Image 0" descr="/home/user/mysteryslavic-2026-07-19_16-47-00/presentations/office-client/assets/illus-P4-sam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709" y="1847088"/>
            <a:ext cx="2286000" cy="2286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РАЗБИРАТЬСЯ САМИМ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773168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5–10 подрядчиков и десятки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часов ваших сотрудников</a:t>
            </a:r>
            <a:endParaRPr lang="en-US" sz="1300" dirty="0"/>
          </a:p>
        </p:txBody>
      </p:sp>
      <p:pic>
        <p:nvPicPr>
          <p:cNvPr id="8" name="Image 1" descr="/home/user/mysteryslavic-2026-07-19_16-47-00/presentations/office-client/assets/illus-P5-odnim-lot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848" y="1847088"/>
            <a:ext cx="2286000" cy="22860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75378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ОТДАТЬ ОДНИМ ЛОТОМ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4475378" y="4773168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Быстро, но по цене вывоза: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ликвидное уходит вместе с хламом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054645" y="1700784"/>
            <a:ext cx="3478682" cy="3767328"/>
          </a:xfrm>
          <a:prstGeom prst="roundRect">
            <a:avLst>
              <a:gd name="adj" fmla="val 1577"/>
            </a:avLst>
          </a:prstGeom>
          <a:solidFill>
            <a:srgbClr val="1A2F3B">
              <a:alpha val="70000"/>
            </a:srgbClr>
          </a:solidFill>
          <a:ln w="15875">
            <a:solidFill>
              <a:srgbClr val="C89B45"/>
            </a:solidFill>
            <a:prstDash val="solid"/>
          </a:ln>
        </p:spPr>
      </p:sp>
      <p:pic>
        <p:nvPicPr>
          <p:cNvPr id="12" name="Image 2" descr="/home/user/mysteryslavic-2026-07-19_16-47-00/presentations/office-client/assets/illus-P6-n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0986" y="1847088"/>
            <a:ext cx="2286000" cy="2286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73517" y="4315968"/>
            <a:ext cx="32409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8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ОТДАТЬ НАМ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8173517" y="4773168"/>
            <a:ext cx="3240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 пустое к дате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деньги за ликвидное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77240" y="5989320"/>
            <a:ext cx="10637215" cy="548640"/>
          </a:xfrm>
          <a:prstGeom prst="roundRect">
            <a:avLst>
              <a:gd name="adj" fmla="val 8333"/>
            </a:avLst>
          </a:prstGeom>
          <a:solidFill>
            <a:srgbClr val="1A2F3B"/>
          </a:solidFill>
          <a:ln w="12700">
            <a:solidFill>
              <a:srgbClr val="6E542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7240" y="6144768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 2 И ВАРИАНТ 3 МЫ СЧИТАЕМ ДЛЯ ВАС ДО СТАРТА — РАЗНИЦУ В ДЕНЬГАХ ВЫ ВИДИТЕ ЗАРАНЕЕ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ПРОЦЕСС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3268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ЭТО РАБОТАЕТ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760494" y="2670048"/>
            <a:ext cx="8670707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5" name="Shape 3"/>
          <p:cNvSpPr/>
          <p:nvPr/>
        </p:nvSpPr>
        <p:spPr>
          <a:xfrm>
            <a:off x="1339870" y="224942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</p:sp>
      <p:pic>
        <p:nvPicPr>
          <p:cNvPr id="6" name="Image 0" descr="/home/user/mysteryslavic-2026-07-19_16-47-00/presentations/office-client/assets/ic-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98" y="2473452"/>
            <a:ext cx="393192" cy="3931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32841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6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5760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</a:t>
            </a:r>
            <a:endParaRPr lang="en-US" sz="13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ДАТА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38912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офиса на 3–5 минут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дата освобождения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07547" y="224942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</p:sp>
      <p:pic>
        <p:nvPicPr>
          <p:cNvPr id="11" name="Image 1" descr="/home/user/mysteryslavic-2026-07-19_16-47-00/presentations/office-client/assets/ic-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1575" y="2473452"/>
            <a:ext cx="393192" cy="39319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44917" y="332841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6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944917" y="365760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ОПИСЬ</a:t>
            </a:r>
            <a:endParaRPr lang="en-US" sz="13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МАРШРУТ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2944917" y="438912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 каждой позиции: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продать, вывезти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утилизировать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675224" y="224942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</p:sp>
      <p:pic>
        <p:nvPicPr>
          <p:cNvPr id="16" name="Image 2" descr="/home/user/mysteryslavic-2026-07-19_16-47-00/presentations/office-client/assets/ic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9252" y="2473452"/>
            <a:ext cx="393192" cy="39319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12593" y="332841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6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112593" y="365760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ТЕНДЕР</a:t>
            </a:r>
            <a:endParaRPr lang="en-US" sz="13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ПОКУПАТЕЛЕЙ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112593" y="438912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ИТ, мебель и техника —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отдельно, по профильным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покупателям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7842900" y="224942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</p:sp>
      <p:pic>
        <p:nvPicPr>
          <p:cNvPr id="21" name="Image 3" descr="/home/user/mysteryslavic-2026-07-19_16-47-00/presentations/office-client/assets/ic-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928" y="2473452"/>
            <a:ext cx="393192" cy="39319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80270" y="332841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6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280270" y="365760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ВЫВОЗ</a:t>
            </a:r>
            <a:endParaRPr lang="en-US" sz="13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ДАТЕ</a:t>
            </a:r>
            <a:endParaRPr lang="en-US" sz="1350" dirty="0"/>
          </a:p>
        </p:txBody>
      </p:sp>
      <p:sp>
        <p:nvSpPr>
          <p:cNvPr id="24" name="Text 18"/>
          <p:cNvSpPr txBox="1"/>
          <p:nvPr/>
        </p:nvSpPr>
        <p:spPr>
          <a:xfrm>
            <a:off x="7280270" y="438912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демонтаж, пропуска,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грузовой лифт, машины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10010577" y="2249424"/>
            <a:ext cx="841248" cy="841248"/>
          </a:xfrm>
          <a:prstGeom prst="ellipse">
            <a:avLst/>
          </a:prstGeom>
          <a:solidFill>
            <a:srgbClr val="F7F1E7"/>
          </a:solidFill>
          <a:ln w="17780">
            <a:solidFill>
              <a:srgbClr val="C89B45"/>
            </a:solidFill>
            <a:prstDash val="solid"/>
          </a:ln>
        </p:spPr>
      </p:sp>
      <p:pic>
        <p:nvPicPr>
          <p:cNvPr id="26" name="Image 4" descr="/home/user/mysteryslavic-2026-07-19_16-47-00/presentations/office-client/assets/ic-filetex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4605" y="2473452"/>
            <a:ext cx="393192" cy="39319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447947" y="3328416"/>
            <a:ext cx="19665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16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9447947" y="3657600"/>
            <a:ext cx="196650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</a:t>
            </a:r>
            <a:endParaRPr lang="en-US" sz="13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ДОКУМЕНТЫ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9447947" y="4389120"/>
            <a:ext cx="196650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кому продано, за сколько,</a:t>
            </a:r>
            <a:endParaRPr lang="en-US" sz="115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утилизировано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777240" y="5797296"/>
            <a:ext cx="10637215" cy="713232"/>
          </a:xfrm>
          <a:prstGeom prst="roundRect">
            <a:avLst>
              <a:gd name="adj" fmla="val 7692"/>
            </a:avLst>
          </a:prstGeom>
          <a:solidFill>
            <a:srgbClr val="0C1D28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77240" y="5797296"/>
            <a:ext cx="106372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16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ВАШЕ УЧАСТИЕ — ДО 90 МИНУТ ЗА ВЕСЬ ПРОЕКТ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548640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ТАРИФЫ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96112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ФОРМАТА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5544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Выбираете по одному признаку: есть ли жёсткая дата освобождения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2048256"/>
            <a:ext cx="5167732" cy="3703320"/>
          </a:xfrm>
          <a:prstGeom prst="roundRect">
            <a:avLst>
              <a:gd name="adj" fmla="val 1235"/>
            </a:avLst>
          </a:prstGeom>
          <a:solidFill>
            <a:srgbClr val="1A2F3B">
              <a:alpha val="5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7" name="Image 0" descr="/home/user/mysteryslavic-2026-07-19_16-47-00/presentations/office-client/assets/ic-shoppingb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432304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37360" y="2523744"/>
            <a:ext cx="379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ФОРМАТ A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3017520"/>
            <a:ext cx="43447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ПРОДАЖА ИЗ ОФИСА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3767328"/>
            <a:ext cx="43447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10 000 ₽ + 25%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4261104"/>
            <a:ext cx="434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суммы продаж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188720" y="4663440"/>
            <a:ext cx="4344772" cy="10973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13" name="Shape 10"/>
          <p:cNvSpPr/>
          <p:nvPr/>
        </p:nvSpPr>
        <p:spPr>
          <a:xfrm>
            <a:off x="1207008" y="4910328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435608" y="4837176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Имущество остаётся у вас до продажи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207008" y="5212080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608" y="5138928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Оценка, лоты, объявления, покупатели, выдача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1207008" y="5513832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435608" y="5440680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Подходит, когда срок не горит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46724" y="2048256"/>
            <a:ext cx="5167732" cy="3703320"/>
          </a:xfrm>
          <a:prstGeom prst="roundRect">
            <a:avLst>
              <a:gd name="adj" fmla="val 1235"/>
            </a:avLst>
          </a:prstGeom>
          <a:solidFill>
            <a:srgbClr val="1A2F3B">
              <a:alpha val="85000"/>
            </a:srgbClr>
          </a:solidFill>
          <a:ln w="19050">
            <a:solidFill>
              <a:srgbClr val="C89B45"/>
            </a:solidFill>
            <a:prstDash val="solid"/>
          </a:ln>
        </p:spPr>
      </p:sp>
      <p:pic>
        <p:nvPicPr>
          <p:cNvPr id="20" name="Image 1" descr="/home/user/mysteryslavic-2026-07-19_16-47-00/presentations/office-client/assets/ic-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204" y="2432304"/>
            <a:ext cx="402336" cy="40233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06844" y="2523744"/>
            <a:ext cx="379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ФОРМАТ B · РЕКОМЕНДУЕМ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658204" y="3017520"/>
            <a:ext cx="43447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ОСВОБОЖДЕНИЕ ПОД КЛЮЧ</a:t>
            </a:r>
            <a:endParaRPr lang="en-US" sz="2100" dirty="0"/>
          </a:p>
        </p:txBody>
      </p:sp>
      <p:sp>
        <p:nvSpPr>
          <p:cNvPr id="23" name="Text 19"/>
          <p:cNvSpPr txBox="1"/>
          <p:nvPr/>
        </p:nvSpPr>
        <p:spPr>
          <a:xfrm>
            <a:off x="6658204" y="3767328"/>
            <a:ext cx="43447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25 000 ₽ + 35%</a:t>
            </a:r>
            <a:endParaRPr lang="en-US" sz="3000" dirty="0"/>
          </a:p>
        </p:txBody>
      </p:sp>
      <p:sp>
        <p:nvSpPr>
          <p:cNvPr id="24" name="Text 20"/>
          <p:cNvSpPr txBox="1"/>
          <p:nvPr/>
        </p:nvSpPr>
        <p:spPr>
          <a:xfrm>
            <a:off x="6658204" y="4261104"/>
            <a:ext cx="43447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суммы продаж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658204" y="4663440"/>
            <a:ext cx="4344772" cy="10973"/>
          </a:xfrm>
          <a:prstGeom prst="rect">
            <a:avLst/>
          </a:prstGeom>
          <a:solidFill>
            <a:srgbClr val="6E5426"/>
          </a:solidFill>
          <a:ln/>
        </p:spPr>
      </p:sp>
      <p:sp>
        <p:nvSpPr>
          <p:cNvPr id="26" name="Shape 22"/>
          <p:cNvSpPr/>
          <p:nvPr/>
        </p:nvSpPr>
        <p:spPr>
          <a:xfrm>
            <a:off x="6676492" y="4910328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905092" y="4837176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 свободно к согласованной дате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676492" y="5212080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905092" y="5138928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Демонтаж, вывоз, хранение и реализация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6676492" y="5513832"/>
            <a:ext cx="64008" cy="64008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905092" y="5440680"/>
            <a:ext cx="4070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Продаём дальше без вашего участия</a:t>
            </a:r>
            <a:endParaRPr lang="en-US" sz="1250" dirty="0"/>
          </a:p>
        </p:txBody>
      </p:sp>
      <p:sp>
        <p:nvSpPr>
          <p:cNvPr id="32" name="Text 28"/>
          <p:cNvSpPr txBox="1"/>
          <p:nvPr/>
        </p:nvSpPr>
        <p:spPr>
          <a:xfrm>
            <a:off x="777240" y="6089904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spc="16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ЗА ИМУЩЕСТВО ПРИХОДЯТ НАПРЯМУЮ ВАШЕЙ КОМПАНИИ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48640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ЭКОНОМИКА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7782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 РАСЧЁТА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361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Офис ~300 м², 25 рабочих мест, срок 5 дней. Формат B.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066544"/>
            <a:ext cx="306324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41401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380 000 ₽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3035808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ПРОДАНО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895344" y="2505456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370832" y="2066544"/>
            <a:ext cx="306324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70832" y="241401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158 000 ₽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517136" y="3035808"/>
            <a:ext cx="2770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25 000 ₽ + 35% · НАША УСЛУГА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507224" y="2505456"/>
            <a:ext cx="420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7982712" y="2066544"/>
            <a:ext cx="3429000" cy="1481328"/>
          </a:xfrm>
          <a:prstGeom prst="roundRect">
            <a:avLst>
              <a:gd name="adj" fmla="val 3086"/>
            </a:avLst>
          </a:prstGeom>
          <a:solidFill>
            <a:srgbClr val="0C1D28"/>
          </a:solidFill>
          <a:ln w="12700">
            <a:solidFill>
              <a:srgbClr val="0C1D2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82712" y="2414016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222 000 ₽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129016" y="3035808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77240" y="3913632"/>
            <a:ext cx="6309360" cy="1517904"/>
          </a:xfrm>
          <a:prstGeom prst="roundRect">
            <a:avLst>
              <a:gd name="adj" fmla="val 3012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pic>
        <p:nvPicPr>
          <p:cNvPr id="17" name="Image 0" descr="/home/user/mysteryslavic-2026-07-19_16-47-00/presentations/office-client/assets/ic-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4279392"/>
            <a:ext cx="438912" cy="43891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764792" y="43159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 СВОБОДНО К ВАШЕЙ ДАТЕ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764792" y="471830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Продажи продолжаются и после даты 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уже без вашего участия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360920" y="3913632"/>
            <a:ext cx="4050792" cy="1517904"/>
          </a:xfrm>
          <a:prstGeom prst="roundRect">
            <a:avLst>
              <a:gd name="adj" fmla="val 3012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99248" y="416052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ОБЪЁМ В ФОРМАТЕ A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450799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услуга 105 000 ₽ · вам 275 000 ₽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699248" y="48646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 вещи остаются в офисе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момента продажи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5797296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Пример. Итог зависит от состава имущества и срока — считаем по вашему видео.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548640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 И ДАННЫЕ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96112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ТЕХНИКУ НЕ ОТДАЁМ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ОДНИМ ЛОТОМ С МЕБЕЛЬЮ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77240" y="2670048"/>
            <a:ext cx="3411626" cy="2651760"/>
          </a:xfrm>
          <a:prstGeom prst="roundRect">
            <a:avLst>
              <a:gd name="adj" fmla="val 1724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6" name="Image 0" descr="/home/user/mysteryslavic-2026-07-19_16-47-00/presentations/office-client/assets/ic-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054096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61288" y="3712464"/>
            <a:ext cx="26435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ОТДЕЛЬНАЯ ОЦЕНКА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161288" y="4151376"/>
            <a:ext cx="26435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Минимум 2–3 котировки на ИТ.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Apple — вне общего офисного лота.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0034" y="2670048"/>
            <a:ext cx="3411626" cy="2651760"/>
          </a:xfrm>
          <a:prstGeom prst="roundRect">
            <a:avLst>
              <a:gd name="adj" fmla="val 1724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10" name="Image 1" descr="/home/user/mysteryslavic-2026-07-19_16-47-00/presentations/office-client/assets/ic-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082" y="3054096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74082" y="3712464"/>
            <a:ext cx="26435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ДАННЫЕ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774082" y="4151376"/>
            <a:ext cx="26435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Учётные записи отвязываются,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накопители стираются или изымаются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передачи техники.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002829" y="2670048"/>
            <a:ext cx="3411626" cy="2651760"/>
          </a:xfrm>
          <a:prstGeom prst="roundRect">
            <a:avLst>
              <a:gd name="adj" fmla="val 1724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14" name="Image 2" descr="/home/user/mysteryslavic-2026-07-19_16-47-00/presentations/office-client/assets/ic-has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6877" y="3054096"/>
            <a:ext cx="438912" cy="4389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86877" y="3712464"/>
            <a:ext cx="26435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УЧЁТ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386877" y="4151376"/>
            <a:ext cx="26435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Серийные номера фиксируются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вывоза и попадают в отчёт.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5797296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можно отчуждать — вы подтверждаете письменно. До этого техника не публикуется.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5836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ПРОЗРАЧНОСТЬ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42416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ПОЗИЦИЯ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ЗАФИКСИРОВАНА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798064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Состояние, стартовая и минимальная цена</a:t>
            </a:r>
            <a:endParaRPr lang="en-US" sz="15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фиксируются до старта продаж.</a:t>
            </a:r>
            <a:endParaRPr lang="en-US" sz="15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 видите статус каждой позиции.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77240" y="4626864"/>
            <a:ext cx="5212080" cy="1133856"/>
          </a:xfrm>
          <a:prstGeom prst="roundRect">
            <a:avLst>
              <a:gd name="adj" fmla="val 4839"/>
            </a:avLst>
          </a:prstGeom>
          <a:solidFill>
            <a:srgbClr val="0C1D28"/>
          </a:solidFill>
          <a:ln/>
        </p:spPr>
      </p:sp>
      <p:pic>
        <p:nvPicPr>
          <p:cNvPr id="6" name="Image 0" descr="/home/user/mysteryslavic-2026-07-19_16-47-00/presentations/office-client/assets/ic-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50292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73352" y="49377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НИЖЕ МИНИМАЛЬНОЙ ЦЕНЫ —</a:t>
            </a:r>
            <a:endParaRPr lang="en-US" sz="14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ТОЛЬКО С ВАШЕГО СОГЛАСИЯ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92240" y="777240"/>
            <a:ext cx="4919472" cy="5303520"/>
          </a:xfrm>
          <a:prstGeom prst="roundRect">
            <a:avLst>
              <a:gd name="adj" fmla="val 929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76288" y="10972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КАРТОЧКА ПОЗИЦИИ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204704" y="105156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EFE7D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204704" y="11064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76288" y="1517904"/>
            <a:ext cx="4151376" cy="1572768"/>
          </a:xfrm>
          <a:prstGeom prst="roundRect">
            <a:avLst>
              <a:gd name="adj" fmla="val 3488"/>
            </a:avLst>
          </a:prstGeom>
          <a:solidFill>
            <a:srgbClr val="13252F"/>
          </a:solidFill>
          <a:ln w="12700">
            <a:solidFill>
              <a:srgbClr val="6E5426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6876288" y="1920240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P8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150608" y="2304288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фото позиции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(офисное кресло)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876288" y="3236976"/>
            <a:ext cx="4151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Кресло эргономичное, сетка · 17 шт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876288" y="37124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Зона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887968" y="3712464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space · Z02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876288" y="4014216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876288" y="4114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Состояние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887968" y="4114800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Хорошее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876288" y="4416552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76288" y="45171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Стартовая цена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887968" y="4517136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6 500 ₽ / шт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876288" y="4818888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76288" y="49194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Минимальная цена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887968" y="491947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4 000 ₽ / шт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876288" y="5221224"/>
            <a:ext cx="4151376" cy="9144"/>
          </a:xfrm>
          <a:prstGeom prst="rect">
            <a:avLst/>
          </a:prstGeom>
          <a:solidFill>
            <a:srgbClr val="EFE7DA"/>
          </a:solidFill>
          <a:ln/>
        </p:spPr>
      </p:sp>
      <p:sp>
        <p:nvSpPr>
          <p:cNvPr id="28" name="Shape 25"/>
          <p:cNvSpPr/>
          <p:nvPr/>
        </p:nvSpPr>
        <p:spPr>
          <a:xfrm>
            <a:off x="6876288" y="5449824"/>
            <a:ext cx="1517904" cy="329184"/>
          </a:xfrm>
          <a:prstGeom prst="roundRect">
            <a:avLst>
              <a:gd name="adj" fmla="val 13889"/>
            </a:avLst>
          </a:prstGeom>
          <a:solidFill>
            <a:srgbClr val="0C1D2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76288" y="5513832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ПРОДАЖЕ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56692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 ВЫВОЗА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060704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ПОМЕЩЕНИЕ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БОЛЬШЕ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ЗАВИСИТ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ПРОДАЖ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91456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Дата освобождения не зависит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того, успел ли продаться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последний стол.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35040" y="1298448"/>
            <a:ext cx="5379415" cy="1371600"/>
          </a:xfrm>
          <a:prstGeom prst="roundRect">
            <a:avLst>
              <a:gd name="adj" fmla="val 3333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7" name="Image 0" descr="/home/user/mysteryslavic-2026-07-19_16-47-00/presentations/office-client/assets/ic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755648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132320" y="160934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ВЫВОЗИМ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1956816"/>
            <a:ext cx="3870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согласованное имущество уезжает к вашей дате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35040" y="2926080"/>
            <a:ext cx="5379415" cy="1371600"/>
          </a:xfrm>
          <a:prstGeom prst="roundRect">
            <a:avLst>
              <a:gd name="adj" fmla="val 3333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11" name="Image 1" descr="/home/user/mysteryslavic-2026-07-19_16-47-00/presentations/office-client/assets/ic-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3832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3236976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ПРОДАЁМ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132320" y="3584448"/>
            <a:ext cx="3870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дальше работаем с покупателями без вашего участия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35040" y="4553712"/>
            <a:ext cx="5379415" cy="1371600"/>
          </a:xfrm>
          <a:prstGeom prst="roundRect">
            <a:avLst>
              <a:gd name="adj" fmla="val 3333"/>
            </a:avLst>
          </a:prstGeom>
          <a:solidFill>
            <a:srgbClr val="1A2F3B">
              <a:alpha val="65000"/>
            </a:srgbClr>
          </a:solidFill>
          <a:ln w="12700">
            <a:solidFill>
              <a:srgbClr val="6E5426"/>
            </a:solidFill>
            <a:prstDash val="solid"/>
          </a:ln>
        </p:spPr>
      </p:sp>
      <p:pic>
        <p:nvPicPr>
          <p:cNvPr id="15" name="Image 2" descr="/home/user/mysteryslavic-2026-07-19_16-47-00/presentations/office-client/assets/ic-check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50109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32320" y="4864608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40" kern="0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ОСТАТОК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7132320" y="5212080"/>
            <a:ext cx="3870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финальный маршрут согласован заранее: передача, вторсырьё или утилизация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КОРПОРАТИВНЫЙ КОНТУР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ВЫЕЗД И ДОКУМЕНТЫ БЕЗ СЮРПРИЗОВ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883664"/>
            <a:ext cx="5167732" cy="3529584"/>
          </a:xfrm>
          <a:prstGeom prst="roundRect">
            <a:avLst>
              <a:gd name="adj" fmla="val 1295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pic>
        <p:nvPicPr>
          <p:cNvPr id="5" name="Image 0" descr="/home/user/mysteryslavic-2026-07-19_16-47-00/presentations/office-client/assets/ic-briefcase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6771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64792" y="2340864"/>
            <a:ext cx="3796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spc="80" kern="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ВЫЕЗД ПО ПРАВИЛАМ БЦ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1188720" y="2944368"/>
            <a:ext cx="4344772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8" name="Shape 5"/>
          <p:cNvSpPr/>
          <p:nvPr/>
        </p:nvSpPr>
        <p:spPr>
          <a:xfrm>
            <a:off x="1207008" y="3282696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72184" y="3182112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согласование дня и времени вывоза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07008" y="3721608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472184" y="3621024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пропуска и материальные пропуска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207008" y="4160520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72184" y="4059936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грузовой лифт и маршрут движения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207008" y="4599432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472184" y="4498848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защита лифтов, стен и пола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207008" y="5038344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472184" y="4937760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уборка помещения после вывоза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46724" y="1883664"/>
            <a:ext cx="5167732" cy="3529584"/>
          </a:xfrm>
          <a:prstGeom prst="roundRect">
            <a:avLst>
              <a:gd name="adj" fmla="val 1295"/>
            </a:avLst>
          </a:prstGeom>
          <a:solidFill>
            <a:srgbClr val="FFFFFF"/>
          </a:solidFill>
          <a:ln w="12700">
            <a:solidFill>
              <a:srgbClr val="DCD3C4"/>
            </a:solidFill>
            <a:prstDash val="solid"/>
          </a:ln>
        </p:spPr>
      </p:sp>
      <p:pic>
        <p:nvPicPr>
          <p:cNvPr id="19" name="Image 1" descr="/home/user/mysteryslavic-2026-07-19_16-47-00/presentations/office-client/assets/ic-folder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204" y="2267712"/>
            <a:ext cx="402336" cy="40233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34276" y="2340864"/>
            <a:ext cx="37961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spc="80" kern="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ДОКУМЕНТЫ ДЛЯ БУХГАЛТЕРИИ</a:t>
            </a:r>
            <a:endParaRPr lang="en-US" sz="1550" dirty="0"/>
          </a:p>
        </p:txBody>
      </p:sp>
      <p:sp>
        <p:nvSpPr>
          <p:cNvPr id="21" name="Shape 17"/>
          <p:cNvSpPr/>
          <p:nvPr/>
        </p:nvSpPr>
        <p:spPr>
          <a:xfrm>
            <a:off x="6658204" y="2944368"/>
            <a:ext cx="4344772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22" name="Shape 18"/>
          <p:cNvSpPr/>
          <p:nvPr/>
        </p:nvSpPr>
        <p:spPr>
          <a:xfrm>
            <a:off x="6676492" y="3282696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941668" y="3182112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реестр имущества с маршрутом каждой позиции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676492" y="3721608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941668" y="3621024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кому и за сколько продано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676492" y="4160520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941668" y="4059936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акты на вывоз и утилизацию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676492" y="4599432"/>
            <a:ext cx="73152" cy="73152"/>
          </a:xfrm>
          <a:prstGeom prst="ellipse">
            <a:avLst/>
          </a:prstGeom>
          <a:solidFill>
            <a:srgbClr val="C89B45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941668" y="4498848"/>
            <a:ext cx="4033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итоговый отчёт по проекту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777240" y="5669280"/>
            <a:ext cx="10637215" cy="658368"/>
          </a:xfrm>
          <a:prstGeom prst="roundRect">
            <a:avLst>
              <a:gd name="adj" fmla="val 8333"/>
            </a:avLst>
          </a:prstGeom>
          <a:solidFill>
            <a:srgbClr val="0C1D28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77240" y="587044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4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СОБСТВЕННИК ИМУЩЕСТВА — ВАША КОМПАНИЯ. МЫ ПОЛУЧАЕМ ОПЛАТУ ЗА УСЛУГУ.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60350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НАЧАЛО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950976"/>
            <a:ext cx="7315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СТАРТ В 2 ШАГА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694944" cy="694944"/>
          </a:xfrm>
          <a:prstGeom prst="ellipse">
            <a:avLst/>
          </a:prstGeom>
          <a:solidFill>
            <a:srgbClr val="1A2F3B"/>
          </a:solidFill>
          <a:ln w="17780">
            <a:solidFill>
              <a:srgbClr val="C89B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78608"/>
            <a:ext cx="694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801368" y="2414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spc="12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ПРИШЛИТЕ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801368" y="28712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 минут видео офиса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дату освобождения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4206240"/>
            <a:ext cx="694944" cy="694944"/>
          </a:xfrm>
          <a:prstGeom prst="ellipse">
            <a:avLst/>
          </a:prstGeom>
          <a:solidFill>
            <a:srgbClr val="1A2F3B"/>
          </a:solidFill>
          <a:ln w="17780">
            <a:solidFill>
              <a:srgbClr val="C89B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389120"/>
            <a:ext cx="694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01368" y="4224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spc="12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ПОЛУЧИТЕ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801368" y="468172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маршрут имущества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предварительный расчёт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79208" y="2340864"/>
            <a:ext cx="4032504" cy="2999232"/>
          </a:xfrm>
          <a:prstGeom prst="roundRect">
            <a:avLst>
              <a:gd name="adj" fmla="val 1829"/>
            </a:avLst>
          </a:prstGeom>
          <a:solidFill>
            <a:srgbClr val="1A2F3B">
              <a:alpha val="80000"/>
            </a:srgbClr>
          </a:solidFill>
          <a:ln w="19050">
            <a:solidFill>
              <a:srgbClr val="C89B45"/>
            </a:solidFill>
            <a:prstDash val="solid"/>
          </a:ln>
        </p:spPr>
      </p:sp>
      <p:pic>
        <p:nvPicPr>
          <p:cNvPr id="14" name="Image 0" descr="/home/user/mysteryslavic-2026-07-19_16-47-00/presentations/office-client/assets/ic-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4564" y="2798064"/>
            <a:ext cx="621792" cy="62179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653528" y="3785616"/>
            <a:ext cx="3483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БЕСПЛАТНАЯ</a:t>
            </a:r>
            <a:endParaRPr lang="en-US" sz="19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ПРЕДВАРИТЕЛЬНАЯ</a:t>
            </a:r>
            <a:endParaRPr lang="en-US" sz="19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ОЦЕНКА ПО ВИДЕО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05332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Отдельная большая инвентаризация до первичной оценки не нужна.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1206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6E54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ОБЫЧНО СПРАШИВАЮТ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4124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ЧАСТЫЕ ВОПРОСЫ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7393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737360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Кому идут деньги за имущество?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1307592" y="239572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Напрямую вашей компании. Мы получаем оплату за услугу.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" y="3090672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393028" y="177393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23380" y="1737360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 непроданным?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6923380" y="239572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Финальный маршрут согласуем заранее: передача, вторсырьё или утилизация.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93028" y="3090672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3467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07592" y="331012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 данные на технике?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1307592" y="396849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Учётки отвязываем, накопители стираем или изымаем до передачи.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93028" y="33467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923380" y="3310128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Можно задать минимальные цены?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6923380" y="396849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Да. Фиксируем до старта продаж, ниже — только с вашего согласия.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93028" y="4663440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307592" y="488289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Работаете с юрлицами?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1307592" y="5541264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Договор, счёт, безналичный расчёт и закрывающие документы.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6236208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93028" y="491947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923380" y="4882896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C1D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Имущество на балансе или в лизинге?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6923380" y="5541264"/>
            <a:ext cx="44910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F6A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Сначала разложим, чем компания вправе распоряжаться, и только потом публикуем.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93028" y="6236208"/>
            <a:ext cx="5021428" cy="10973"/>
          </a:xfrm>
          <a:prstGeom prst="rect">
            <a:avLst/>
          </a:prstGeom>
          <a:solidFill>
            <a:srgbClr val="DCD3C4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D28">
              <a:alpha val="82000"/>
            </a:srgbClr>
          </a:solidFill>
          <a:ln/>
        </p:spPr>
      </p:sp>
      <p:pic>
        <p:nvPicPr>
          <p:cNvPr id="3" name="Image 0" descr="/home/user/mysteryslavic-2026-07-19_16-47-00/presentations/office-client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57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17320" y="47548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ПРОДАЙ ЗА МЕНЯ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1417320" y="71323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Освобождение офиса под ключ · Казань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572768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ПРИШЛИТЕ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ОФИСА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3346704"/>
            <a:ext cx="1371600" cy="32004"/>
          </a:xfrm>
          <a:prstGeom prst="rect">
            <a:avLst/>
          </a:prstGeom>
          <a:solidFill>
            <a:srgbClr val="C89B4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" y="3639312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БЕСПЛАТНО ОЦЕНИМ,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D9BC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МОЖНО ВЕРНУТЬ ДЕНЬГАМИ</a:t>
            </a:r>
            <a:endParaRPr lang="en-US" sz="1900" dirty="0"/>
          </a:p>
        </p:txBody>
      </p:sp>
      <p:pic>
        <p:nvPicPr>
          <p:cNvPr id="9" name="Image 1" descr="/home/user/mysteryslavic-2026-07-19_16-47-00/presentations/office-client/assets/ic-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74336"/>
            <a:ext cx="310896" cy="31089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07592" y="49560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+7 965 595-99-97</a:t>
            </a:r>
            <a:endParaRPr lang="en-US" sz="1900" dirty="0"/>
          </a:p>
        </p:txBody>
      </p:sp>
      <p:pic>
        <p:nvPicPr>
          <p:cNvPr id="11" name="Image 2" descr="/home/user/mysteryslavic-2026-07-19_16-47-00/presentations/office-client/assets/ic-ma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32704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07592" y="56235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ODRybakov@mail.ru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6969100" y="2615184"/>
            <a:ext cx="1783080" cy="1783080"/>
          </a:xfrm>
          <a:prstGeom prst="roundRect">
            <a:avLst>
              <a:gd name="adj" fmla="val 2564"/>
            </a:avLst>
          </a:prstGeom>
          <a:solidFill>
            <a:srgbClr val="13252F"/>
          </a:solidFill>
          <a:ln w="12700">
            <a:solidFill>
              <a:srgbClr val="6E5426"/>
            </a:solidFill>
            <a:prstDash val="dash"/>
          </a:ln>
        </p:spPr>
      </p:sp>
      <p:pic>
        <p:nvPicPr>
          <p:cNvPr id="14" name="Image 3" descr="/home/user/mysteryslavic-2026-07-19_16-47-00/presentations/office-client/assets/ic-sen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1184" y="3145536"/>
            <a:ext cx="438912" cy="43891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69100" y="37307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969100" y="45902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9319108" y="2615184"/>
            <a:ext cx="1783080" cy="1783080"/>
          </a:xfrm>
          <a:prstGeom prst="roundRect">
            <a:avLst>
              <a:gd name="adj" fmla="val 2564"/>
            </a:avLst>
          </a:prstGeom>
          <a:solidFill>
            <a:srgbClr val="13252F"/>
          </a:solidFill>
          <a:ln w="12700">
            <a:solidFill>
              <a:srgbClr val="6E5426"/>
            </a:solidFill>
            <a:prstDash val="dash"/>
          </a:ln>
        </p:spPr>
      </p:sp>
      <p:pic>
        <p:nvPicPr>
          <p:cNvPr id="18" name="Image 4" descr="/home/user/mysteryslavic-2026-07-19_16-47-00/presentations/office-client/assets/ic-message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1192" y="3145536"/>
            <a:ext cx="438912" cy="43891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319108" y="37307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9319108" y="45902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7F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6656832" y="5138928"/>
            <a:ext cx="47576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CAAB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Предварительная оценка — бесплатно</a:t>
            </a:r>
            <a:endParaRPr lang="en-US" sz="1250" dirty="0"/>
          </a:p>
        </p:txBody>
      </p:sp>
      <p:sp>
        <p:nvSpPr>
          <p:cNvPr id="22" name="Shape 15"/>
          <p:cNvSpPr/>
          <p:nvPr/>
        </p:nvSpPr>
        <p:spPr>
          <a:xfrm>
            <a:off x="10710367" y="6291072"/>
            <a:ext cx="704088" cy="274320"/>
          </a:xfrm>
          <a:prstGeom prst="roundRect">
            <a:avLst>
              <a:gd name="adj" fmla="val 16667"/>
            </a:avLst>
          </a:prstGeom>
          <a:solidFill>
            <a:srgbClr val="13252F"/>
          </a:solidFill>
          <a:ln w="9525">
            <a:solidFill>
              <a:srgbClr val="6E5426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0710367" y="629107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C89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Продай за меня — Офисы. Клиентская презентация</dc:title>
  <dc:subject>PptxGenJS Presentation</dc:subject>
  <dc:creator>Продай за меня</dc:creator>
  <cp:lastModifiedBy>Продай за меня</cp:lastModifiedBy>
  <cp:revision>1</cp:revision>
  <dcterms:created xsi:type="dcterms:W3CDTF">2026-09-06T13:09:57Z</dcterms:created>
  <dcterms:modified xsi:type="dcterms:W3CDTF">2026-09-06T13:09:57Z</dcterms:modified>
</cp:coreProperties>
</file>