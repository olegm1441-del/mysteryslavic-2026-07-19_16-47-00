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2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957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e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image" Target="../media/image18.png"/><Relationship Id="rId13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e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eg"/><Relationship Id="rId4" Type="http://schemas.openxmlformats.org/officeDocument/2006/relationships/image" Target="../media/image16.png"/><Relationship Id="rId5" Type="http://schemas.openxmlformats.org/officeDocument/2006/relationships/image" Target="../media/image17.jpg"/><Relationship Id="rId6" Type="http://schemas.openxmlformats.org/officeDocument/2006/relationships/image" Target="../media/image3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eg"/><Relationship Id="rId4" Type="http://schemas.openxmlformats.org/officeDocument/2006/relationships/image" Target="../media/image12.png"/><Relationship Id="rId5" Type="http://schemas.openxmlformats.org/officeDocument/2006/relationships/image" Target="../media/image18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e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eg"/><Relationship Id="rId4" Type="http://schemas.openxmlformats.org/officeDocument/2006/relationships/image" Target="../media/image21.png"/><Relationship Id="rId5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jpe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steryslavic-2026-07-19_16-47-00/presentations/office-client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29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63040" y="6583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 · КАЗАНЬ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7863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5000" b="1" kern="0" spc="-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ОСВОБОДИМ</a:t>
            </a:r>
            <a:endParaRPr lang="en-US" sz="50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5000" b="1" kern="0" spc="-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</a:t>
            </a:r>
            <a:endParaRPr lang="en-US" sz="50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5000" b="1" kern="0" spc="-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 КЛЮЧ</a:t>
            </a:r>
            <a:endParaRPr lang="en-US" sz="5000" dirty="0"/>
          </a:p>
        </p:txBody>
      </p:sp>
      <p:sp>
        <p:nvSpPr>
          <p:cNvPr id="5" name="Shape 2"/>
          <p:cNvSpPr/>
          <p:nvPr/>
        </p:nvSpPr>
        <p:spPr>
          <a:xfrm>
            <a:off x="777240" y="4526280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28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ru-RU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СПРАВЕДЛИВЫЕ </a:t>
            </a:r>
            <a:r>
              <a:rPr lang="en-US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</a:t>
            </a:r>
            <a:endParaRPr lang="ru-RU" sz="2700" b="1" kern="0" spc="60" dirty="0">
              <a:solidFill>
                <a:srgbClr val="D9BC7A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</a:t>
            </a:r>
            <a:r>
              <a:rPr lang="ru-RU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ВСЕ</a:t>
            </a:r>
            <a:r>
              <a:rPr lang="en-US" sz="2700" b="1" kern="0" spc="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ИМУЩЕСТВО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5961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2179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459944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ru-RU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</a:rPr>
              <a:t>ОТ ВЕЩЕЙ НУЖНО ИЗБАВИТЬСЯ БЫСТРО И ПРИБЫЛЬНО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92795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2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77239" y="2126385"/>
            <a:ext cx="6662651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</a:t>
            </a:r>
            <a:r>
              <a:rPr lang="en-US" sz="40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вост</a:t>
            </a:r>
            <a:r>
              <a:rPr lang="en-US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400" dirty="0">
              <a:solidFill>
                <a:srgbClr val="0C1D28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12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столов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3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шкафа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микроволновка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…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ковролин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доска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 · </a:t>
            </a:r>
            <a:r>
              <a:rPr lang="en-US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кабели</a:t>
            </a:r>
            <a:r>
              <a:rPr lang="ru-RU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…</a:t>
            </a:r>
          </a:p>
        </p:txBody>
      </p:sp>
      <p:sp>
        <p:nvSpPr>
          <p:cNvPr id="6" name="Shape 4"/>
          <p:cNvSpPr/>
          <p:nvPr/>
        </p:nvSpPr>
        <p:spPr>
          <a:xfrm>
            <a:off x="777239" y="4405727"/>
            <a:ext cx="5212080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39" y="4720938"/>
            <a:ext cx="5394960" cy="133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ru-RU" sz="4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Inter" pitchFamily="34" charset="-120"/>
              </a:rPr>
              <a:t>Продавать самому: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0">
              <a:lnSpc>
                <a:spcPct val="150000"/>
              </a:lnSpc>
            </a:pPr>
            <a:r>
              <a:rPr lang="ru-RU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  <a:t>До 40 часов рабочего времени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7724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ПУТИ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252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решения «</a:t>
            </a:r>
            <a:r>
              <a:rPr lang="en-US" sz="15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</a:t>
            </a:r>
            <a:r>
              <a:rPr lang="en-US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</a:t>
            </a:r>
            <a:r>
              <a:rPr lang="en-US" sz="1500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забираем</a:t>
            </a:r>
            <a:r>
              <a:rPr lang="ru-RU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из офиса</a:t>
            </a:r>
            <a:r>
              <a:rPr lang="en-US" sz="15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»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5" name="Image 0" descr="/home/user/mysteryslavic-2026-07-19_16-47-00/presentations/office-client/assets/ill-vyvez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4709" y="1847088"/>
            <a:ext cx="2286000" cy="2286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</a:t>
            </a:r>
            <a:r>
              <a:rPr lang="ru-RU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БРОСИТЬ</a:t>
            </a:r>
            <a:r>
              <a:rPr lang="en-US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ВС</a:t>
            </a:r>
            <a:r>
              <a:rPr lang="ru-RU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814317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Заплатить за вывоз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не вернуть ничего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Image 1" descr="/home/user/mysteryslavic-2026-07-19_16-47-00/presentations/office-client/assets/ill-sam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2848" y="1847088"/>
            <a:ext cx="2286000" cy="2286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75378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kern="0" spc="8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ПРОДАВАТЬ САМИМ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475378" y="4814317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Опись, фото, объявления,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звонки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  <a:r>
              <a:rPr lang="ru-RU" dirty="0">
                <a:solidFill>
                  <a:srgbClr val="F7F1E7"/>
                </a:solidFill>
              </a:rPr>
              <a:t> 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оказы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.. </a:t>
            </a:r>
          </a:p>
          <a:p>
            <a:pPr marL="0" indent="0" algn="ctr">
              <a:buNone/>
            </a:pP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Плюс скоро сдавать ключи!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7"/>
          <p:cNvSpPr/>
          <p:nvPr/>
        </p:nvSpPr>
        <p:spPr>
          <a:xfrm>
            <a:off x="8054645" y="1700784"/>
            <a:ext cx="3478682" cy="3767328"/>
          </a:xfrm>
          <a:prstGeom prst="roundRect">
            <a:avLst>
              <a:gd name="adj" fmla="val 1577"/>
            </a:avLst>
          </a:prstGeom>
          <a:solidFill>
            <a:srgbClr val="1A2F3B">
              <a:alpha val="70000"/>
            </a:srgbClr>
          </a:solidFill>
          <a:ln w="15875">
            <a:solidFill>
              <a:srgbClr val="C89B45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/home/user/mysteryslavic-2026-07-19_16-47-00/presentations/office-client/assets/ill-n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986" y="1847088"/>
            <a:ext cx="2286000" cy="2286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73517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kern="0" spc="8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ОТДАТЬ НАМ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8173517" y="4814317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пустое к дате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деньги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dirty="0" err="1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</a:t>
            </a:r>
            <a:r>
              <a:rPr lang="ru-RU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</a:t>
            </a:r>
            <a:r>
              <a:rPr lang="en-US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ликвидное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277092" y="5989320"/>
            <a:ext cx="11637816" cy="548640"/>
          </a:xfrm>
          <a:prstGeom prst="roundRect">
            <a:avLst>
              <a:gd name="adj" fmla="val 8333"/>
            </a:avLst>
          </a:prstGeom>
          <a:solidFill>
            <a:srgbClr val="1A2F3B"/>
          </a:solidFill>
          <a:ln w="12700">
            <a:solidFill>
              <a:srgbClr val="6E5426"/>
            </a:solidFill>
            <a:prstDash val="solid"/>
          </a:ln>
        </p:spPr>
        <p:txBody>
          <a:bodyPr/>
          <a:p/>
        </p:txBody>
      </p:sp>
      <p:sp>
        <p:nvSpPr>
          <p:cNvPr id="16" name="Text 11"/>
          <p:cNvSpPr txBox="1"/>
          <p:nvPr/>
        </p:nvSpPr>
        <p:spPr>
          <a:xfrm>
            <a:off x="277092" y="6144767"/>
            <a:ext cx="11720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ru-RU" sz="200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БЕСПЛАТНО РАССЧИТАЕМ</a:t>
            </a:r>
            <a:r>
              <a:rPr lang="en-US" sz="200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sz="200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СТОИМОСТНЫЕ И ВРЕМЕННЫЕ ЗАТРАТЫ ЗА ВАС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· ОФИС 300 м², 25 РАБОЧИХ МЕСТ, ОСВОБОДИТЬ ЗА 5 ДНЕЙ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ПУТИ — В ДЕНЬГАХ И ЧАСАХ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6675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88136" y="164592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ЛИКВИДНОЕ ИМУЩЕСТВО ПО ОЦЕНКЕ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16459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420 000 ₽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161288" y="27066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563624" y="2706624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ВЫБРОСИТЬ ВСЁ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− 28 000 ₽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1161288" y="3913632"/>
            <a:ext cx="2594762" cy="10973"/>
          </a:xfrm>
          <a:prstGeom prst="rect">
            <a:avLst/>
          </a:prstGeom>
          <a:solidFill>
            <a:srgbClr val="DCD3C4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161288" y="4114800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4389120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 1 день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477316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Вывоз и утилизация</a:t>
            </a:r>
            <a:endParaRPr lang="en-US" sz="1100" dirty="0"/>
          </a:p>
          <a:p>
            <a:pPr marL="0" indent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ваш счёт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4418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798466" y="27066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00802" y="2706624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ПРОДАТЬ САМИМ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+ 73 000 ₽</a:t>
            </a:r>
            <a:endParaRPr lang="en-US" sz="3100" dirty="0"/>
          </a:p>
        </p:txBody>
      </p:sp>
      <p:sp>
        <p:nvSpPr>
          <p:cNvPr id="19" name="Shape 17"/>
          <p:cNvSpPr/>
          <p:nvPr/>
        </p:nvSpPr>
        <p:spPr>
          <a:xfrm>
            <a:off x="4798466" y="3913632"/>
            <a:ext cx="2594762" cy="10973"/>
          </a:xfrm>
          <a:prstGeom prst="rect">
            <a:avLst/>
          </a:prstGeom>
          <a:solidFill>
            <a:srgbClr val="DCD3C4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798466" y="4114800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4389120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 30 часов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98466" y="477316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 — за полцены.</a:t>
            </a:r>
            <a:endParaRPr lang="en-US" sz="1100" dirty="0"/>
          </a:p>
          <a:p>
            <a:pPr marL="0" indent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Мебель — на вывоз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51597" y="2395728"/>
            <a:ext cx="3362858" cy="3200400"/>
          </a:xfrm>
          <a:prstGeom prst="roundRect">
            <a:avLst>
              <a:gd name="adj" fmla="val 1429"/>
            </a:avLst>
          </a:prstGeom>
          <a:solidFill>
            <a:srgbClr val="0C1D28"/>
          </a:solidFill>
          <a:ln w="12700">
            <a:solidFill>
              <a:srgbClr val="0C1D2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35645" y="27066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837981" y="2706624"/>
            <a:ext cx="21924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ОТДАТЬ НАМ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435645" y="3145536"/>
            <a:ext cx="25947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+ 248 000 ₽</a:t>
            </a:r>
            <a:endParaRPr lang="en-US" sz="3100" dirty="0"/>
          </a:p>
        </p:txBody>
      </p:sp>
      <p:sp>
        <p:nvSpPr>
          <p:cNvPr id="27" name="Shape 25"/>
          <p:cNvSpPr/>
          <p:nvPr/>
        </p:nvSpPr>
        <p:spPr>
          <a:xfrm>
            <a:off x="8435645" y="3913632"/>
            <a:ext cx="2594762" cy="10973"/>
          </a:xfrm>
          <a:prstGeom prst="rect">
            <a:avLst/>
          </a:prstGeom>
          <a:solidFill>
            <a:srgbClr val="6E5426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435645" y="4114800"/>
            <a:ext cx="25947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ВРЕМЯ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435645" y="4389120"/>
            <a:ext cx="25947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90 минут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435645" y="4773168"/>
            <a:ext cx="259476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420 000 ₽ − услуга 172 000 ₽</a:t>
            </a:r>
            <a:endParaRPr lang="en-US" sz="1100" dirty="0"/>
          </a:p>
          <a:p>
            <a:pPr marL="0" indent="0">
              <a:lnSpc>
                <a:spcPts val="1550"/>
              </a:lnSpc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(25 000 ₽ + 35%)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по референсному объекту.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77240" y="9326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ЭТО РАБОТАЕТ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760494" y="3035808"/>
            <a:ext cx="8670707" cy="10973"/>
          </a:xfrm>
          <a:prstGeom prst="rect">
            <a:avLst/>
          </a:prstGeom>
          <a:solidFill>
            <a:srgbClr val="DCD3C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39870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02336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ru-RU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СООБЩАЕТЕ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endParaRPr lang="en-US" sz="1150" dirty="0"/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чего нужно избавиться</a:t>
            </a:r>
          </a:p>
        </p:txBody>
      </p:sp>
      <p:sp>
        <p:nvSpPr>
          <p:cNvPr id="10" name="Shape 7"/>
          <p:cNvSpPr/>
          <p:nvPr/>
        </p:nvSpPr>
        <p:spPr>
          <a:xfrm>
            <a:off x="3507547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2944917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944917" y="402336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2944917" y="475488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ru-RU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</a:rPr>
              <a:t>сколько выручим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75224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5112593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112593" y="402336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ПОДПИСЫВАЕМ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112593" y="475488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договор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842900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22" name="Text 16"/>
          <p:cNvSpPr txBox="1"/>
          <p:nvPr/>
        </p:nvSpPr>
        <p:spPr>
          <a:xfrm>
            <a:off x="7280270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280270" y="402336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7280270" y="475488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ваши вещи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10010577" y="261518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 txBox="1"/>
          <p:nvPr/>
        </p:nvSpPr>
        <p:spPr>
          <a:xfrm>
            <a:off x="9447947" y="369417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6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447947" y="402336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ОТЧИТЫВАЕМСЯ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9447947" y="475488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делим прибыль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777240" y="5797296"/>
            <a:ext cx="10637215" cy="713232"/>
          </a:xfrm>
          <a:prstGeom prst="roundRect">
            <a:avLst>
              <a:gd name="adj" fmla="val 7692"/>
            </a:avLst>
          </a:prstGeom>
          <a:solidFill>
            <a:srgbClr val="0C1D28"/>
          </a:solidFill>
          <a:ln/>
        </p:spPr>
        <p:txBody>
          <a:bodyPr/>
          <a:p/>
        </p:txBody>
      </p:sp>
      <p:sp>
        <p:nvSpPr>
          <p:cNvPr id="31" name="Text 24"/>
          <p:cNvSpPr txBox="1"/>
          <p:nvPr/>
        </p:nvSpPr>
        <p:spPr>
          <a:xfrm>
            <a:off x="777240" y="5797296"/>
            <a:ext cx="10637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6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УЧАСТИЕ — ДО 90 МИНУТ ЗА ВЕСЬ ПРОЕКТ</a:t>
            </a:r>
            <a:endParaRPr lang="en-US" sz="1700" dirty="0"/>
          </a:p>
        </p:txBody>
      </p:sp>
      <p:pic>
        <p:nvPicPr>
          <p:cNvPr id="32" name="Picture 31" descr="ic-messagesqua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3898" y="2839212"/>
            <a:ext cx="393192" cy="393192"/>
          </a:xfrm>
          <a:prstGeom prst="rect">
            <a:avLst/>
          </a:prstGeom>
        </p:spPr>
      </p:pic>
      <p:pic>
        <p:nvPicPr>
          <p:cNvPr id="33" name="Picture 32" descr="ic-barchart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1575" y="2839212"/>
            <a:ext cx="393192" cy="393192"/>
          </a:xfrm>
          <a:prstGeom prst="rect">
            <a:avLst/>
          </a:prstGeom>
        </p:spPr>
      </p:pic>
      <p:pic>
        <p:nvPicPr>
          <p:cNvPr id="34" name="Picture 33" descr="ic-edit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99252" y="2839212"/>
            <a:ext cx="393192" cy="393192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66928" y="2839212"/>
            <a:ext cx="393192" cy="393192"/>
          </a:xfrm>
          <a:prstGeom prst="rect">
            <a:avLst/>
          </a:prstGeom>
        </p:spPr>
      </p:pic>
      <p:pic>
        <p:nvPicPr>
          <p:cNvPr id="36" name="Picture 35" descr="ic-piechar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34605" y="2839212"/>
            <a:ext cx="393192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ФОРМАТА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9611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УСЛУГИ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544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Выбираете по задаче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5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p/>
        </p:txBody>
      </p:sp>
      <p:pic>
        <p:nvPicPr>
          <p:cNvPr id="7" name="Image 0" descr="/home/user/mysteryslavic-2026-07-19_16-47-00/presentations/office-client/assets/ic-shopping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432304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МАКСИМАЛЬНОЙ ВЫРУЧКИ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ПРОДАЖА ИЗ ОФИСА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10 000 ₽ + 25%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88720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207008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1435608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Вещи остаются в офисе до продажи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207008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1435608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 дольше — выручаем больше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46724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8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p/>
        </p:txBody>
      </p:sp>
      <p:pic>
        <p:nvPicPr>
          <p:cNvPr id="20" name="Image 1" descr="/home/user/mysteryslavic-2026-07-19_16-47-00/presentations/office-client/assets/ic-ke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204" y="2432304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06844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БЫСТРОГО ОСВОБОЖДЕНИЯ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658204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ПОД КЛЮЧ</a:t>
            </a:r>
            <a:endParaRPr lang="en-US" sz="2100" dirty="0"/>
          </a:p>
        </p:txBody>
      </p:sp>
      <p:sp>
        <p:nvSpPr>
          <p:cNvPr id="23" name="Text 19"/>
          <p:cNvSpPr txBox="1"/>
          <p:nvPr/>
        </p:nvSpPr>
        <p:spPr>
          <a:xfrm>
            <a:off x="6658204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25 000 ₽ + 35%</a:t>
            </a:r>
            <a:endParaRPr lang="en-US" sz="3000" dirty="0"/>
          </a:p>
        </p:txBody>
      </p:sp>
      <p:sp>
        <p:nvSpPr>
          <p:cNvPr id="24" name="Text 20"/>
          <p:cNvSpPr txBox="1"/>
          <p:nvPr/>
        </p:nvSpPr>
        <p:spPr>
          <a:xfrm>
            <a:off x="6658204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58204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6676492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6905092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свободно к вашей дате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676492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6905092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 дальше без вашего участия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777240" y="608990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kern="0" spc="16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ЗА ИМУЩЕСТВО ПРИХОДЯТ НАПРЯМУЮ ВАШЕЙ КОМПАНИИ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5836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ПРОЗРАЧНОСТЬ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42416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ПОЗИЦИЯ</a:t>
            </a:r>
            <a:endParaRPr lang="en-US" sz="36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ЗАФИКСИРОВАНА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9806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Состояние, стартовая и минимальная цена</a:t>
            </a:r>
            <a:endParaRPr lang="en-US" sz="155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фиксируются до старта продаж.</a:t>
            </a:r>
            <a:endParaRPr lang="en-US" sz="155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 видите статус каждой позиции.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" y="4626864"/>
            <a:ext cx="5212080" cy="1133856"/>
          </a:xfrm>
          <a:prstGeom prst="roundRect">
            <a:avLst>
              <a:gd name="adj" fmla="val 4839"/>
            </a:avLst>
          </a:prstGeom>
          <a:solidFill>
            <a:srgbClr val="0C1D28"/>
          </a:solidFill>
          <a:ln/>
        </p:spPr>
      </p:sp>
      <p:pic>
        <p:nvPicPr>
          <p:cNvPr id="6" name="Image 0" descr="/home/user/mysteryslavic-2026-07-19_16-47-00/presentations/office-client/assets/ic-check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" y="50292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73352" y="49377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НИЖЕ МИНИМАЛЬНОЙ ЦЕНЫ —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С ВАШЕГО СОГЛАСИЯ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777240"/>
            <a:ext cx="4919472" cy="5303520"/>
          </a:xfrm>
          <a:prstGeom prst="roundRect">
            <a:avLst>
              <a:gd name="adj" fmla="val 9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76288" y="10972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КАРТОЧКА ПОЗИЦИИ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04704" y="10515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FE7D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204704" y="1106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6876288" y="3675887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Кресло эргономичное, сетка · 17 шт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876288" y="40965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Зона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8887968" y="409651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space · Z02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76288" y="439826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6288" y="4462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8887968" y="446227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Хорошее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76288" y="476402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6288" y="48280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Стартовая цена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887968" y="482803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6 500 ₽ / шт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876288" y="512978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876288" y="5193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Минимальная цена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8887968" y="51937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4 000 ₽ / шт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876288" y="549554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7" name="Shape 23"/>
          <p:cNvSpPr/>
          <p:nvPr/>
        </p:nvSpPr>
        <p:spPr>
          <a:xfrm>
            <a:off x="6876288" y="5614416"/>
            <a:ext cx="1517904" cy="329184"/>
          </a:xfrm>
          <a:prstGeom prst="roundRect">
            <a:avLst>
              <a:gd name="adj" fmla="val 13889"/>
            </a:avLst>
          </a:prstGeom>
          <a:solidFill>
            <a:srgbClr val="0C1D28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876288" y="567842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ПРОДАЖЕ</a:t>
            </a:r>
            <a:endParaRPr lang="en-US" sz="1050" dirty="0"/>
          </a:p>
        </p:txBody>
      </p:sp>
      <p:pic>
        <p:nvPicPr>
          <p:cNvPr id="29" name="Picture 28" descr="ph-P8-chai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1517904"/>
            <a:ext cx="4151376" cy="2031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ВЫВОЗА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60704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</a:t>
            </a:r>
            <a:endParaRPr lang="en-US" sz="34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БОЛЬШЕ</a:t>
            </a:r>
            <a:endParaRPr lang="en-US" sz="34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ЗАВИСИТ</a:t>
            </a:r>
            <a:endParaRPr lang="en-US" sz="34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ПРОДАЖ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91456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освобождения не зависит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того, успел ли продаться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последний стол.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35040" y="1298448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p/>
        </p:txBody>
      </p:sp>
      <p:pic>
        <p:nvPicPr>
          <p:cNvPr id="7" name="Image 0" descr="/home/user/mysteryslavic-2026-07-19_16-47-00/presentations/office-client/assets/ic-tru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1755648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0" y="160934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4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ВЫВОЗИМ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1956816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согласованное имущество — к вашей дате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35040" y="2926080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home/user/mysteryslavic-2026-07-19_16-47-00/presentations/office-client/assets/ic-t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33832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323697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4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32320" y="3584448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работаем с покупателями без вас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35040" y="4553712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/home/user/mysteryslavic-2026-07-19_16-47-00/presentations/office-client/assets/ic-check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50109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32320" y="486460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4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ОСТАТОК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132320" y="5212080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передача, вторсырьё или утилизация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КОРПОРАТИВНЫЙ КОНТУР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И ДОКУМЕНТЫ БЕЗ СЮРПРИЗОВ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5" name="Image 0" descr="/home/user/mysteryslavic-2026-07-19_16-47-00/presentations/office-client/assets/ic-briefcase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64792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kern="0" spc="8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ПО ПРАВИЛАМ БЦ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1188720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Shape 5"/>
          <p:cNvSpPr/>
          <p:nvPr/>
        </p:nvSpPr>
        <p:spPr>
          <a:xfrm>
            <a:off x="1207008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72184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согласование дня и времени вывоза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07008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472184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пропуска и материальные пропуска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207008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72184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грузовой лифт и маршрут движения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207008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72184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защита лифтов, стен и пола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207008" y="5038344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472184" y="4937760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уборка помещения после вывоза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46724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19" name="Image 1" descr="/home/user/mysteryslavic-2026-07-19_16-47-00/presentations/office-client/assets/ic-folder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204" y="2267712"/>
            <a:ext cx="402336" cy="40233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34276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kern="0" spc="8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ДОКУМЕНТЫ ДЛЯ БУХГАЛТЕРИИ</a:t>
            </a:r>
            <a:endParaRPr lang="en-US" sz="1550" dirty="0"/>
          </a:p>
        </p:txBody>
      </p:sp>
      <p:sp>
        <p:nvSpPr>
          <p:cNvPr id="21" name="Shape 17"/>
          <p:cNvSpPr/>
          <p:nvPr/>
        </p:nvSpPr>
        <p:spPr>
          <a:xfrm>
            <a:off x="6658204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2" name="Shape 18"/>
          <p:cNvSpPr/>
          <p:nvPr/>
        </p:nvSpPr>
        <p:spPr>
          <a:xfrm>
            <a:off x="6676492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941668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реестр имущества с маршрутом каждой позиции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676492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941668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и за сколько продано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676492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941668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акты на вывоз и утилизацию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676492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41668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итоговый отчёт по проекту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77240" y="5669280"/>
            <a:ext cx="10637215" cy="658368"/>
          </a:xfrm>
          <a:prstGeom prst="roundRect">
            <a:avLst>
              <a:gd name="adj" fmla="val 8333"/>
            </a:avLst>
          </a:prstGeom>
          <a:solidFill>
            <a:srgbClr val="0C1D2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kern="0" spc="14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ИМУЩЕСТВА — ВАША КОМПАНИЯ. МЫ ПОЛУЧАЕМ ОПЛАТУ ЗА УСЛУГУ.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77240" y="60350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ПЕРВЫЙ ШАГ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950976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РАСЧЁТ — БЕСПЛАТНО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77240" y="2779776"/>
            <a:ext cx="694944" cy="694944"/>
          </a:xfrm>
          <a:prstGeom prst="ellipse">
            <a:avLst/>
          </a:prstGeom>
          <a:solidFill>
            <a:srgbClr val="1A2F3B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2962656"/>
            <a:ext cx="694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01368" y="27980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kern="0" spc="12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ОТПРАВЬТЕ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801368" y="325526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фото или просто названия того,</a:t>
            </a:r>
            <a:endParaRPr lang="en-US" sz="15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нужно продать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4590288"/>
            <a:ext cx="694944" cy="694944"/>
          </a:xfrm>
          <a:prstGeom prst="ellipse">
            <a:avLst/>
          </a:prstGeom>
          <a:solidFill>
            <a:srgbClr val="1A2F3B"/>
          </a:solidFill>
          <a:ln w="1778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77240" y="4773168"/>
            <a:ext cx="694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01368" y="46085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kern="0" spc="12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ПОЛУЧИТЕ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801368" y="5065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расчёт и маршрут имущества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79208" y="2724912"/>
            <a:ext cx="4032504" cy="2999232"/>
          </a:xfrm>
          <a:prstGeom prst="roundRect">
            <a:avLst>
              <a:gd name="adj" fmla="val 1829"/>
            </a:avLst>
          </a:prstGeom>
          <a:solidFill>
            <a:srgbClr val="1A2F3B">
              <a:alpha val="80000"/>
            </a:srgbClr>
          </a:solidFill>
          <a:ln w="19050">
            <a:solidFill>
              <a:srgbClr val="C89B45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7653528" y="4169664"/>
            <a:ext cx="3483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ОЦЕНКА</a:t>
            </a:r>
            <a:endParaRPr lang="en-US" sz="19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ФОТО</a:t>
            </a:r>
            <a:endParaRPr lang="en-US" sz="19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СПИСКУ</a:t>
            </a:r>
            <a:endParaRPr lang="en-US" sz="1900" dirty="0"/>
          </a:p>
        </p:txBody>
      </p:sp>
      <p:pic>
        <p:nvPicPr>
          <p:cNvPr id="17" name="Picture 16" descr="ic-camer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564" y="3182112"/>
            <a:ext cx="621792" cy="6217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1206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ОБЫЧНО СПРАШИВАЮТ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ЧАСТЫЕ ВОПРОСЫ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225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228600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 непроданным?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307592" y="294436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Финальный маршрут согласуем заранее: передача, вторсырьё или утилизация.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3639312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93028" y="23225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23380" y="228600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 данные на технике?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923380" y="294436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Учётки отвязываем, накопители стираем или изымаем до передачи.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93028" y="3639312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07822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2" y="404164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Имущество на балансе или в лизинге?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307592" y="470001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Сначала разложим, чем компания вправе распоряжаться, и только потом публикуем.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5394960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93028" y="407822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923380" y="404164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оформляется оплата?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923380" y="470001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Договор, счёт, безналичный расчёт и закрывающие документы.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93028" y="5394960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ysteryslavic-2026-07-19_16-47-00/presentations/office-client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17320" y="47548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24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1417320" y="7132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офиса под ключ · Казань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ПРИШЛИТЕ</a:t>
            </a:r>
            <a:endParaRPr lang="en-US" sz="4400" dirty="0"/>
          </a:p>
          <a:p>
            <a:pPr marL="0" indent="0">
              <a:lnSpc>
                <a:spcPts val="5000"/>
              </a:lnSpc>
              <a:buNone/>
            </a:pPr>
            <a:r>
              <a:rPr lang="ru-RU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ФОТО</a:t>
            </a: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ОФИСА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77240" y="3346704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36393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БЕСПЛАТНО ОЦЕНИМ,</a:t>
            </a:r>
            <a:endParaRPr lang="en-US" sz="1900" dirty="0"/>
          </a:p>
          <a:p>
            <a:pPr marL="0" indent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МОЖНО ВЕРНУТЬ ДЕНЬГАМИ</a:t>
            </a:r>
            <a:endParaRPr lang="en-US" sz="1900" dirty="0"/>
          </a:p>
        </p:txBody>
      </p:sp>
      <p:pic>
        <p:nvPicPr>
          <p:cNvPr id="8" name="Image 1" descr="/home/user/mysteryslavic-2026-07-19_16-47-00/presentations/office-client/assets/ic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74336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4956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+7 917 896-84-83</a:t>
            </a:r>
            <a:endParaRPr lang="en-US" sz="1900" dirty="0"/>
          </a:p>
        </p:txBody>
      </p:sp>
      <p:pic>
        <p:nvPicPr>
          <p:cNvPr id="10" name="Image 2" descr="/home/user/mysteryslavic-2026-07-19_16-47-00/presentations/office-client/assets/ic-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632704"/>
            <a:ext cx="310896" cy="31089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07592" y="56235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proday_za_menya@mail.ru</a:t>
            </a:r>
            <a:endParaRPr lang="en-US" sz="1700" dirty="0"/>
          </a:p>
        </p:txBody>
      </p:sp>
      <p:sp>
        <p:nvSpPr>
          <p:cNvPr id="12" name="Rounded Rectangle 11"/>
          <p:cNvSpPr/>
          <p:nvPr/>
        </p:nvSpPr>
        <p:spPr>
          <a:xfrm>
            <a:off x="6355080" y="2450592"/>
            <a:ext cx="1600200" cy="2670048"/>
          </a:xfrm>
          <a:prstGeom prst="roundRect">
            <a:avLst>
              <a:gd name="adj" fmla="val 6000"/>
            </a:avLst>
          </a:prstGeom>
          <a:solidFill>
            <a:srgbClr val="0C1D28"/>
          </a:solidFill>
          <a:ln w="12700">
            <a:solidFill>
              <a:srgbClr val="6E5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9732" y="2651760"/>
            <a:ext cx="310896" cy="3108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05956" y="3127248"/>
            <a:ext cx="1298448" cy="1298448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3388" y="3154680"/>
            <a:ext cx="1243584" cy="12435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4626864"/>
            <a:ext cx="1600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BC7A"/>
                </a:solidFill>
                <a:latin typeface="Inter"/>
              </a:rPr>
              <a:t>TELEGRAM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450592"/>
            <a:ext cx="1600200" cy="2670048"/>
          </a:xfrm>
          <a:prstGeom prst="roundRect">
            <a:avLst>
              <a:gd name="adj" fmla="val 6000"/>
            </a:avLst>
          </a:prstGeom>
          <a:solidFill>
            <a:srgbClr val="0C1D28"/>
          </a:solidFill>
          <a:ln w="12700">
            <a:solidFill>
              <a:srgbClr val="6E5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c-messagesquar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27948" y="2651760"/>
            <a:ext cx="310896" cy="31089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234171" y="3127248"/>
            <a:ext cx="1298448" cy="1298448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1604" y="3154680"/>
            <a:ext cx="1243584" cy="12435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83296" y="4626864"/>
            <a:ext cx="1600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BC7A"/>
                </a:solidFill>
                <a:latin typeface="Inter"/>
              </a:rPr>
              <a:t>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11512" y="2450592"/>
            <a:ext cx="1600200" cy="2670048"/>
          </a:xfrm>
          <a:prstGeom prst="roundRect">
            <a:avLst>
              <a:gd name="adj" fmla="val 6000"/>
            </a:avLst>
          </a:prstGeom>
          <a:solidFill>
            <a:srgbClr val="0C1D28"/>
          </a:solidFill>
          <a:ln w="12700">
            <a:solidFill>
              <a:srgbClr val="6E5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56164" y="2651760"/>
            <a:ext cx="310896" cy="31089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962388" y="3127248"/>
            <a:ext cx="1298448" cy="1298448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qr-whatsap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89820" y="3154680"/>
            <a:ext cx="1243584" cy="12435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811512" y="4626864"/>
            <a:ext cx="1600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BC7A"/>
                </a:solidFill>
                <a:latin typeface="Inter"/>
              </a:rPr>
              <a:t>WHATSAPP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764</Words>
  <Application>Microsoft Macintosh PowerPoint</Application>
  <PresentationFormat>Widescreen</PresentationFormat>
  <Paragraphs>203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Продай за меня — Офисы. Клиентская презентация</dc:title>
  <dc:subject>PptxGenJS Presentation</dc:subject>
  <dc:creator>Продай за меня</dc:creator>
  <cp:lastModifiedBy>Олег Рыбаков</cp:lastModifiedBy>
  <cp:revision>3</cp:revision>
  <dcterms:created xsi:type="dcterms:W3CDTF">2026-09-06T17:25:35Z</dcterms:created>
  <dcterms:modified xsi:type="dcterms:W3CDTF">2026-09-07T10:28:48Z</dcterms:modified>
</cp:coreProperties>
</file>