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62" r:id="rId5"/>
    <p:sldId id="260" r:id="rId6"/>
    <p:sldId id="261" r:id="rId7"/>
    <p:sldId id="264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5957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jp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8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jpe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.png"/><Relationship Id="rId9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ysteryslavic-2026-07-19_16-47-00/presentations/office-client/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029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463040" y="65836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6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ПРОДАЙ ЗА МЕНЯ · КАЗАНЬ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1572768"/>
            <a:ext cx="78638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5000" b="1" kern="0" spc="-5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ОСВОБОДИМ</a:t>
            </a:r>
            <a:endParaRPr lang="en-US" sz="5000" dirty="0"/>
          </a:p>
          <a:p>
            <a:pPr marL="0" indent="0">
              <a:lnSpc>
                <a:spcPts val="5400"/>
              </a:lnSpc>
              <a:buNone/>
            </a:pPr>
            <a:r>
              <a:rPr lang="en-US" sz="5000" b="1" kern="0" spc="-5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ОФИС</a:t>
            </a:r>
            <a:endParaRPr lang="en-US" sz="5000" dirty="0"/>
          </a:p>
          <a:p>
            <a:pPr marL="0" indent="0">
              <a:lnSpc>
                <a:spcPts val="5400"/>
              </a:lnSpc>
              <a:buNone/>
            </a:pPr>
            <a:r>
              <a:rPr lang="en-US" sz="5000" b="1" kern="0" spc="-5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 КЛЮЧ</a:t>
            </a:r>
            <a:endParaRPr lang="en-US" sz="5000" dirty="0"/>
          </a:p>
        </p:txBody>
      </p:sp>
      <p:sp>
        <p:nvSpPr>
          <p:cNvPr id="5" name="Shape 2"/>
          <p:cNvSpPr/>
          <p:nvPr/>
        </p:nvSpPr>
        <p:spPr>
          <a:xfrm>
            <a:off x="777240" y="4526280"/>
            <a:ext cx="1371600" cy="32004"/>
          </a:xfrm>
          <a:prstGeom prst="rect">
            <a:avLst/>
          </a:prstGeom>
          <a:solidFill>
            <a:srgbClr val="C89B4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4828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ru-RU" sz="2700" b="1" kern="0" spc="60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СПРАВЕДЛИВЫЕ </a:t>
            </a:r>
            <a:r>
              <a:rPr lang="en-US" sz="2700" b="1" kern="0" spc="60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ДЕНЬГИ </a:t>
            </a:r>
            <a:endParaRPr lang="ru-RU" sz="2700" b="1" kern="0" spc="60" dirty="0">
              <a:solidFill>
                <a:srgbClr val="D9BC7A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700" b="1" kern="0" spc="60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</a:t>
            </a:r>
            <a:r>
              <a:rPr lang="ru-RU" sz="2700" b="1" kern="0" spc="60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ВСЕ</a:t>
            </a:r>
            <a:r>
              <a:rPr lang="en-US" sz="2700" b="1" kern="0" spc="60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ИМУЩЕСТВО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559612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21792"/>
            <a:ext cx="106372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459944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000"/>
              </a:lnSpc>
              <a:buNone/>
            </a:pPr>
            <a:r>
              <a:rPr lang="ru-RU" sz="36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</a:rPr>
              <a:t>ОТ ВЕЩЕЙ НУЖНО ИЗБАВИТЬСЯ БЫСТРО И ПРИБЫЛЬНО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592795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32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77239" y="2126385"/>
            <a:ext cx="6662651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ru-RU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Х</a:t>
            </a:r>
            <a:r>
              <a:rPr lang="en-US" sz="4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вост</a:t>
            </a:r>
            <a:r>
              <a:rPr 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</a:t>
            </a:r>
            <a:endParaRPr lang="en-US" sz="2400" dirty="0">
              <a:solidFill>
                <a:srgbClr val="0C1D28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Inter" pitchFamily="34" charset="-120"/>
              </a:rPr>
              <a:t>12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Inter" pitchFamily="34" charset="-120"/>
              </a:rPr>
              <a:t>столов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Inter" pitchFamily="34" charset="-120"/>
              </a:rPr>
              <a:t> · 3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Inter" pitchFamily="34" charset="-120"/>
              </a:rPr>
              <a:t>шкафа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Inter" pitchFamily="34" charset="-120"/>
              </a:rPr>
              <a:t> ·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Inter" pitchFamily="34" charset="-120"/>
              </a:rPr>
              <a:t>микроволновка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Inter" pitchFamily="34" charset="-120"/>
              </a:rPr>
              <a:t>…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Inter" pitchFamily="34" charset="-120"/>
              </a:rPr>
              <a:t>ковролин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Inter" pitchFamily="34" charset="-120"/>
              </a:rPr>
              <a:t> ·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Inter" pitchFamily="34" charset="-120"/>
              </a:rPr>
              <a:t>доска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Inter" pitchFamily="34" charset="-120"/>
              </a:rPr>
              <a:t> ·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Inter" pitchFamily="34" charset="-120"/>
              </a:rPr>
              <a:t>кабели</a:t>
            </a: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Inter" pitchFamily="34" charset="-120"/>
              </a:rPr>
              <a:t>…</a:t>
            </a:r>
          </a:p>
        </p:txBody>
      </p:sp>
      <p:sp>
        <p:nvSpPr>
          <p:cNvPr id="6" name="Shape 4"/>
          <p:cNvSpPr/>
          <p:nvPr/>
        </p:nvSpPr>
        <p:spPr>
          <a:xfrm>
            <a:off x="777239" y="4405727"/>
            <a:ext cx="5212080" cy="10973"/>
          </a:xfrm>
          <a:prstGeom prst="rect">
            <a:avLst/>
          </a:prstGeom>
          <a:solidFill>
            <a:srgbClr val="DCD3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39" y="4720938"/>
            <a:ext cx="5394960" cy="133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ru-RU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Inter" pitchFamily="34" charset="-120"/>
              </a:rPr>
              <a:t>Продавать самому: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lvl="0">
              <a:lnSpc>
                <a:spcPct val="150000"/>
              </a:lnSpc>
            </a:pP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До 40 часов рабочего времени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28">
              <a:alpha val="8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56692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ТРИ ПУТИ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22529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После решения «</a:t>
            </a:r>
            <a:r>
              <a:rPr lang="en-US" sz="1500" dirty="0" err="1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ru-RU" sz="1500" dirty="0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</a:t>
            </a:r>
            <a:r>
              <a:rPr lang="en-US" sz="1500" dirty="0" err="1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забираем</a:t>
            </a:r>
            <a:r>
              <a:rPr lang="ru-RU" sz="1500" dirty="0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из офиса</a:t>
            </a: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»</a:t>
            </a:r>
            <a:endParaRPr lang="en-US" sz="150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5" name="Image 0" descr="/home/user/mysteryslavic-2026-07-19_16-47-00/presentations/office-client/assets/ill-vyvezt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4709" y="1847088"/>
            <a:ext cx="2286000" cy="2286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4315968"/>
            <a:ext cx="32409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kern="0" spc="8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</a:t>
            </a:r>
            <a:r>
              <a:rPr lang="ru-RU" sz="2200" b="1" kern="0" spc="8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БРОСИТЬ</a:t>
            </a:r>
            <a:r>
              <a:rPr lang="en-US" sz="2200" b="1" kern="0" spc="8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ВС</a:t>
            </a:r>
            <a:r>
              <a:rPr lang="ru-RU" sz="2200" b="1" kern="0" spc="8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4814317"/>
            <a:ext cx="3240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Заплатить за вывоз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 algn="ctr">
              <a:buNone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 не вернуть ничего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8" name="Image 1" descr="/home/user/mysteryslavic-2026-07-19_16-47-00/presentations/office-client/assets/ill-sam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2848" y="1847088"/>
            <a:ext cx="2286000" cy="22860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475378" y="4315968"/>
            <a:ext cx="32409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kern="0" spc="8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ПРОДАВАТЬ САМИМ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4475378" y="4814317"/>
            <a:ext cx="3240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Опись, фото, объявления,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звонки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оказы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.. </a:t>
            </a:r>
          </a:p>
          <a:p>
            <a:pPr marL="0" indent="0" algn="ctr">
              <a:buNone/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Плюс скоро сдавать ключи!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Shape 7"/>
          <p:cNvSpPr/>
          <p:nvPr/>
        </p:nvSpPr>
        <p:spPr>
          <a:xfrm>
            <a:off x="8054645" y="1700784"/>
            <a:ext cx="3478682" cy="3767328"/>
          </a:xfrm>
          <a:prstGeom prst="roundRect">
            <a:avLst>
              <a:gd name="adj" fmla="val 1577"/>
            </a:avLst>
          </a:prstGeom>
          <a:solidFill>
            <a:srgbClr val="1A2F3B">
              <a:alpha val="70000"/>
            </a:srgbClr>
          </a:solidFill>
          <a:ln w="15875">
            <a:solidFill>
              <a:srgbClr val="C89B45"/>
            </a:solidFill>
            <a:prstDash val="solid"/>
          </a:ln>
        </p:spPr>
      </p:sp>
      <p:pic>
        <p:nvPicPr>
          <p:cNvPr id="12" name="Image 2" descr="/home/user/mysteryslavic-2026-07-19_16-47-00/presentations/office-client/assets/ill-na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986" y="1847088"/>
            <a:ext cx="2286000" cy="22860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173517" y="4315968"/>
            <a:ext cx="32409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kern="0" spc="80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ОТДАТЬ НАМ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8173517" y="4814317"/>
            <a:ext cx="3240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Помещение пустое к дате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 algn="ctr">
              <a:buNone/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деньги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ликвидное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Shape 10"/>
          <p:cNvSpPr/>
          <p:nvPr/>
        </p:nvSpPr>
        <p:spPr>
          <a:xfrm>
            <a:off x="277092" y="5989320"/>
            <a:ext cx="11637816" cy="548640"/>
          </a:xfrm>
          <a:prstGeom prst="roundRect">
            <a:avLst>
              <a:gd name="adj" fmla="val 8333"/>
            </a:avLst>
          </a:prstGeom>
          <a:solidFill>
            <a:srgbClr val="1A2F3B"/>
          </a:solidFill>
          <a:ln w="12700">
            <a:solidFill>
              <a:srgbClr val="6E542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277092" y="6144767"/>
            <a:ext cx="11720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ru-RU" sz="2000" b="1" kern="0" spc="120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БЕСПЛАТНО РАССЧИТАЕМ</a:t>
            </a:r>
            <a:r>
              <a:rPr lang="en-US" sz="2000" b="1" kern="0" spc="120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ru-RU" sz="2000" b="1" kern="0" spc="120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СТОИМОСТНЫЕ И ВРЕМЕННЫЕ ЗАТРАТЫ ЗА ВАС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30352"/>
            <a:ext cx="106372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6E5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ПРИМЕР · ОФИС 300 м², 25 РАБОЧИХ МЕСТ, ОСВОБОДИТЬ ЗА 5 ДНЕЙ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412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ТРИ ПУТИ — В ДЕНЬГАХ И ЧАСАХ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77240" y="1645920"/>
            <a:ext cx="66751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CD3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164592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ЛИКВИДНОЕ ИМУЩЕСТВО ПО ОЦЕНКЕ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257800" y="164592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420 000 ₽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77240" y="2395728"/>
            <a:ext cx="3362858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CD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61288" y="270662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6E5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563624" y="2706624"/>
            <a:ext cx="21924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6E5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ВЫВЕЗТИ ВСЁ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61288" y="3145536"/>
            <a:ext cx="25947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− 28 000 ₽</a:t>
            </a:r>
            <a:endParaRPr lang="en-US" sz="3100" dirty="0"/>
          </a:p>
        </p:txBody>
      </p:sp>
      <p:sp>
        <p:nvSpPr>
          <p:cNvPr id="11" name="Shape 9"/>
          <p:cNvSpPr/>
          <p:nvPr/>
        </p:nvSpPr>
        <p:spPr>
          <a:xfrm>
            <a:off x="1161288" y="3913632"/>
            <a:ext cx="2594762" cy="10973"/>
          </a:xfrm>
          <a:prstGeom prst="rect">
            <a:avLst/>
          </a:prstGeom>
          <a:solidFill>
            <a:srgbClr val="DCD3C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61288" y="4114800"/>
            <a:ext cx="25947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ВАШЕ ВРЕМЯ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" y="4389120"/>
            <a:ext cx="25947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 1 день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161288" y="4773168"/>
            <a:ext cx="259476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Демонтаж, машины</a:t>
            </a:r>
            <a:endParaRPr lang="en-US" sz="11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 утилизация — за ваш счёт.</a:t>
            </a:r>
            <a:endParaRPr lang="en-US" sz="11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Ликвидное уезжает в мусор.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14418" y="2395728"/>
            <a:ext cx="3362858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CD3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98466" y="270662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6E5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200802" y="2706624"/>
            <a:ext cx="21924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6E5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ПРОДАТЬ САМИМ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798466" y="3145536"/>
            <a:ext cx="25947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+ 73 000 ₽</a:t>
            </a:r>
            <a:endParaRPr lang="en-US" sz="3100" dirty="0"/>
          </a:p>
        </p:txBody>
      </p:sp>
      <p:sp>
        <p:nvSpPr>
          <p:cNvPr id="19" name="Shape 17"/>
          <p:cNvSpPr/>
          <p:nvPr/>
        </p:nvSpPr>
        <p:spPr>
          <a:xfrm>
            <a:off x="4798466" y="3913632"/>
            <a:ext cx="2594762" cy="10973"/>
          </a:xfrm>
          <a:prstGeom prst="rect">
            <a:avLst/>
          </a:prstGeom>
          <a:solidFill>
            <a:srgbClr val="DCD3C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798466" y="4114800"/>
            <a:ext cx="25947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ВАШЕ ВРЕМЯ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798466" y="4389120"/>
            <a:ext cx="25947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 30 часов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798466" y="4773168"/>
            <a:ext cx="259476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 — одним лотом за полцены.</a:t>
            </a:r>
            <a:endParaRPr lang="en-US" sz="11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Мебель и кухня — на вывоз</a:t>
            </a:r>
            <a:endParaRPr lang="en-US" sz="11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 22 000 ₽.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51597" y="2395728"/>
            <a:ext cx="3362858" cy="3200400"/>
          </a:xfrm>
          <a:prstGeom prst="roundRect">
            <a:avLst>
              <a:gd name="adj" fmla="val 1429"/>
            </a:avLst>
          </a:prstGeom>
          <a:solidFill>
            <a:srgbClr val="0C1D28"/>
          </a:solidFill>
          <a:ln w="12700">
            <a:solidFill>
              <a:srgbClr val="0C1D2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35645" y="270662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C89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837981" y="2706624"/>
            <a:ext cx="21924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C89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ОТДАТЬ НАМ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435645" y="3145536"/>
            <a:ext cx="25947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+ 248 000 ₽</a:t>
            </a:r>
            <a:endParaRPr lang="en-US" sz="3100" dirty="0"/>
          </a:p>
        </p:txBody>
      </p:sp>
      <p:sp>
        <p:nvSpPr>
          <p:cNvPr id="27" name="Shape 25"/>
          <p:cNvSpPr/>
          <p:nvPr/>
        </p:nvSpPr>
        <p:spPr>
          <a:xfrm>
            <a:off x="8435645" y="3913632"/>
            <a:ext cx="2594762" cy="10973"/>
          </a:xfrm>
          <a:prstGeom prst="rect">
            <a:avLst/>
          </a:prstGeom>
          <a:solidFill>
            <a:srgbClr val="6E542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435645" y="4114800"/>
            <a:ext cx="25947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ВАШЕ ВРЕМЯ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435645" y="4389120"/>
            <a:ext cx="25947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 90 минут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8435645" y="4773168"/>
            <a:ext cx="259476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10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Продано 420 000 ₽</a:t>
            </a:r>
            <a:endParaRPr lang="en-US" sz="11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10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минус наша услуга 172 000 ₽</a:t>
            </a:r>
            <a:endParaRPr lang="en-US" sz="11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10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(25 000 ₽ + 35%).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77240" y="5870448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Пример по референсному объекту. Цены на б/у имущество и объём работ считаем по вашему видео.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777240" y="93268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ЭТО РАБОТАЕТ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1760494" y="2670048"/>
            <a:ext cx="8670707" cy="10973"/>
          </a:xfrm>
          <a:prstGeom prst="rect">
            <a:avLst/>
          </a:prstGeom>
          <a:solidFill>
            <a:srgbClr val="DCD3C4"/>
          </a:solidFill>
          <a:ln/>
        </p:spPr>
      </p:sp>
      <p:sp>
        <p:nvSpPr>
          <p:cNvPr id="5" name="Shape 3"/>
          <p:cNvSpPr/>
          <p:nvPr/>
        </p:nvSpPr>
        <p:spPr>
          <a:xfrm>
            <a:off x="1339870" y="2249424"/>
            <a:ext cx="841248" cy="841248"/>
          </a:xfrm>
          <a:prstGeom prst="ellipse">
            <a:avLst/>
          </a:prstGeom>
          <a:solidFill>
            <a:srgbClr val="F7F1E7"/>
          </a:solidFill>
          <a:ln w="17780">
            <a:solidFill>
              <a:srgbClr val="C89B45"/>
            </a:solidFill>
            <a:prstDash val="solid"/>
          </a:ln>
        </p:spPr>
      </p:sp>
      <p:pic>
        <p:nvPicPr>
          <p:cNvPr id="6" name="Image 0" descr="/home/user/mysteryslavic-2026-07-19_16-47-00/presentations/office-client/assets/ic-vide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3898" y="2473452"/>
            <a:ext cx="393192" cy="39319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328416"/>
            <a:ext cx="19665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kern="0" spc="160" dirty="0">
                <a:solidFill>
                  <a:srgbClr val="C89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657600"/>
            <a:ext cx="196650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ru-RU" sz="135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ФОТО</a:t>
            </a:r>
            <a:endParaRPr lang="en-US" sz="1350" dirty="0"/>
          </a:p>
          <a:p>
            <a:pPr marL="0" indent="0" algn="ctr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 ДАТА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389120"/>
            <a:ext cx="196650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endParaRPr lang="en-US" sz="1150" dirty="0"/>
          </a:p>
          <a:p>
            <a:pPr marL="0" indent="0" algn="ctr">
              <a:lnSpc>
                <a:spcPts val="1650"/>
              </a:lnSpc>
              <a:buNone/>
            </a:pPr>
            <a:r>
              <a:rPr lang="en-US" sz="115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 дата освобождения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507547" y="2249424"/>
            <a:ext cx="841248" cy="841248"/>
          </a:xfrm>
          <a:prstGeom prst="ellipse">
            <a:avLst/>
          </a:prstGeom>
          <a:solidFill>
            <a:srgbClr val="F7F1E7"/>
          </a:solidFill>
          <a:ln w="17780">
            <a:solidFill>
              <a:srgbClr val="C89B45"/>
            </a:solidFill>
            <a:prstDash val="solid"/>
          </a:ln>
        </p:spPr>
      </p:sp>
      <p:pic>
        <p:nvPicPr>
          <p:cNvPr id="11" name="Image 1" descr="/home/user/mysteryslavic-2026-07-19_16-47-00/presentations/office-client/assets/ic-clip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1575" y="2473452"/>
            <a:ext cx="393192" cy="39319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944917" y="3328416"/>
            <a:ext cx="19665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kern="0" spc="160" dirty="0">
                <a:solidFill>
                  <a:srgbClr val="C89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2944917" y="3657600"/>
            <a:ext cx="196650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ОПИСЬ</a:t>
            </a:r>
            <a:endParaRPr lang="en-US" sz="1350" dirty="0"/>
          </a:p>
          <a:p>
            <a:pPr marL="0" indent="0" algn="ctr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 МАРШРУТ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2944917" y="4389120"/>
            <a:ext cx="196650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ru-RU" sz="1150" dirty="0">
                <a:solidFill>
                  <a:srgbClr val="6F6A62"/>
                </a:solidFill>
                <a:latin typeface="Inter" pitchFamily="34" charset="0"/>
                <a:ea typeface="Inter" pitchFamily="34" charset="-122"/>
              </a:rPr>
              <a:t>Придем и отснимем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675224" y="2249424"/>
            <a:ext cx="841248" cy="841248"/>
          </a:xfrm>
          <a:prstGeom prst="ellipse">
            <a:avLst/>
          </a:prstGeom>
          <a:solidFill>
            <a:srgbClr val="F7F1E7"/>
          </a:solidFill>
          <a:ln w="17780">
            <a:solidFill>
              <a:srgbClr val="C89B45"/>
            </a:solidFill>
            <a:prstDash val="solid"/>
          </a:ln>
        </p:spPr>
      </p:sp>
      <p:pic>
        <p:nvPicPr>
          <p:cNvPr id="16" name="Image 2" descr="/home/user/mysteryslavic-2026-07-19_16-47-00/presentations/office-client/assets/ic-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9252" y="2473452"/>
            <a:ext cx="393192" cy="39319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112593" y="3328416"/>
            <a:ext cx="19665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kern="0" spc="160" dirty="0">
                <a:solidFill>
                  <a:srgbClr val="C89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5112593" y="3657600"/>
            <a:ext cx="196650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ТЕНДЕР</a:t>
            </a:r>
            <a:endParaRPr lang="en-US" sz="1350" dirty="0"/>
          </a:p>
          <a:p>
            <a:pPr marL="0" indent="0" algn="ctr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ПОКУПАТЕЛЕЙ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5112593" y="4389120"/>
            <a:ext cx="196650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15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ИТ, мебель и техника —</a:t>
            </a:r>
            <a:endParaRPr lang="en-US" sz="1150" dirty="0"/>
          </a:p>
          <a:p>
            <a:pPr marL="0" indent="0" algn="ctr">
              <a:lnSpc>
                <a:spcPts val="1650"/>
              </a:lnSpc>
              <a:buNone/>
            </a:pPr>
            <a:r>
              <a:rPr lang="en-US" sz="115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отдельно, по профильным</a:t>
            </a:r>
            <a:endParaRPr lang="en-US" sz="1150" dirty="0"/>
          </a:p>
          <a:p>
            <a:pPr marL="0" indent="0" algn="ctr">
              <a:lnSpc>
                <a:spcPts val="1650"/>
              </a:lnSpc>
              <a:buNone/>
            </a:pPr>
            <a:r>
              <a:rPr lang="en-US" sz="115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покупателям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842900" y="2249424"/>
            <a:ext cx="841248" cy="841248"/>
          </a:xfrm>
          <a:prstGeom prst="ellipse">
            <a:avLst/>
          </a:prstGeom>
          <a:solidFill>
            <a:srgbClr val="F7F1E7"/>
          </a:solidFill>
          <a:ln w="17780">
            <a:solidFill>
              <a:srgbClr val="C89B45"/>
            </a:solidFill>
            <a:prstDash val="solid"/>
          </a:ln>
        </p:spPr>
      </p:sp>
      <p:pic>
        <p:nvPicPr>
          <p:cNvPr id="21" name="Image 3" descr="/home/user/mysteryslavic-2026-07-19_16-47-00/presentations/office-client/assets/ic-tru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6928" y="2473452"/>
            <a:ext cx="393192" cy="39319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80270" y="3328416"/>
            <a:ext cx="19665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kern="0" spc="160" dirty="0">
                <a:solidFill>
                  <a:srgbClr val="C89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7280270" y="3657600"/>
            <a:ext cx="196650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ВЫВОЗ</a:t>
            </a:r>
            <a:endParaRPr lang="en-US" sz="1350" dirty="0"/>
          </a:p>
          <a:p>
            <a:pPr marL="0" indent="0" algn="ctr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 ДАТЕ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7280270" y="4389120"/>
            <a:ext cx="196650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15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демонтаж, пропуска,</a:t>
            </a:r>
            <a:endParaRPr lang="en-US" sz="1150" dirty="0"/>
          </a:p>
          <a:p>
            <a:pPr marL="0" indent="0" algn="ctr">
              <a:lnSpc>
                <a:spcPts val="1650"/>
              </a:lnSpc>
              <a:buNone/>
            </a:pPr>
            <a:r>
              <a:rPr lang="en-US" sz="115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грузовой лифт, машины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10010577" y="2249424"/>
            <a:ext cx="841248" cy="841248"/>
          </a:xfrm>
          <a:prstGeom prst="ellipse">
            <a:avLst/>
          </a:prstGeom>
          <a:solidFill>
            <a:srgbClr val="F7F1E7"/>
          </a:solidFill>
          <a:ln w="17780">
            <a:solidFill>
              <a:srgbClr val="C89B45"/>
            </a:solidFill>
            <a:prstDash val="solid"/>
          </a:ln>
        </p:spPr>
      </p:sp>
      <p:pic>
        <p:nvPicPr>
          <p:cNvPr id="26" name="Image 4" descr="/home/user/mysteryslavic-2026-07-19_16-47-00/presentations/office-client/assets/ic-filetex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34605" y="2473452"/>
            <a:ext cx="393192" cy="39319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447947" y="3328416"/>
            <a:ext cx="19665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kern="0" spc="160" dirty="0">
                <a:solidFill>
                  <a:srgbClr val="C89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9447947" y="3657600"/>
            <a:ext cx="196650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ОТЧЁТ</a:t>
            </a:r>
            <a:endParaRPr lang="en-US" sz="1350" dirty="0"/>
          </a:p>
          <a:p>
            <a:pPr marL="0" indent="0" algn="ctr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 ДОКУМЕНТЫ</a:t>
            </a:r>
            <a:endParaRPr lang="en-US" sz="1350" dirty="0"/>
          </a:p>
        </p:txBody>
      </p:sp>
      <p:sp>
        <p:nvSpPr>
          <p:cNvPr id="29" name="Text 22"/>
          <p:cNvSpPr txBox="1"/>
          <p:nvPr/>
        </p:nvSpPr>
        <p:spPr>
          <a:xfrm>
            <a:off x="9447947" y="4389120"/>
            <a:ext cx="196650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15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кому продано, за сколько,</a:t>
            </a:r>
            <a:endParaRPr lang="en-US" sz="1150" dirty="0"/>
          </a:p>
          <a:p>
            <a:pPr marL="0" indent="0" algn="ctr">
              <a:lnSpc>
                <a:spcPts val="1650"/>
              </a:lnSpc>
              <a:buNone/>
            </a:pPr>
            <a:r>
              <a:rPr lang="en-US" sz="115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утилизировано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777240" y="5797296"/>
            <a:ext cx="10637215" cy="713232"/>
          </a:xfrm>
          <a:prstGeom prst="roundRect">
            <a:avLst>
              <a:gd name="adj" fmla="val 7692"/>
            </a:avLst>
          </a:prstGeom>
          <a:solidFill>
            <a:srgbClr val="0C1D28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777240" y="5797296"/>
            <a:ext cx="106372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kern="0" spc="16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ВАШЕ УЧАСТИЕ — ДО 90 МИНУТ ЗА ВЕСЬ ПРОЕКТ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28">
              <a:alpha val="8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548640"/>
            <a:ext cx="106372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C89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ТАРИФЫ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8961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ДВА ФОРМАТА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5544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Выбираете по одному признаку: есть ли жёсткая дата освобождения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77240" y="2048256"/>
            <a:ext cx="5167732" cy="3703320"/>
          </a:xfrm>
          <a:prstGeom prst="roundRect">
            <a:avLst>
              <a:gd name="adj" fmla="val 1235"/>
            </a:avLst>
          </a:prstGeom>
          <a:solidFill>
            <a:srgbClr val="1A2F3B">
              <a:alpha val="55000"/>
            </a:srgbClr>
          </a:solidFill>
          <a:ln w="12700">
            <a:solidFill>
              <a:srgbClr val="6E5426"/>
            </a:solidFill>
            <a:prstDash val="solid"/>
          </a:ln>
        </p:spPr>
      </p:sp>
      <p:pic>
        <p:nvPicPr>
          <p:cNvPr id="7" name="Image 0" descr="/home/user/mysteryslavic-2026-07-19_16-47-00/presentations/office-client/assets/ic-shoppingb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2432304"/>
            <a:ext cx="402336" cy="4023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37360" y="2523744"/>
            <a:ext cx="37961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ФОРМАТ A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3017520"/>
            <a:ext cx="43447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ПРОДАЖА ИЗ ОФИСА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3767328"/>
            <a:ext cx="43447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10 000 ₽ + 25%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4261104"/>
            <a:ext cx="43447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 суммы продаж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188720" y="4663440"/>
            <a:ext cx="4344772" cy="10973"/>
          </a:xfrm>
          <a:prstGeom prst="rect">
            <a:avLst/>
          </a:prstGeom>
          <a:solidFill>
            <a:srgbClr val="6E5426"/>
          </a:solidFill>
          <a:ln/>
        </p:spPr>
      </p:sp>
      <p:sp>
        <p:nvSpPr>
          <p:cNvPr id="13" name="Shape 10"/>
          <p:cNvSpPr/>
          <p:nvPr/>
        </p:nvSpPr>
        <p:spPr>
          <a:xfrm>
            <a:off x="1207008" y="4910328"/>
            <a:ext cx="64008" cy="64008"/>
          </a:xfrm>
          <a:prstGeom prst="ellipse">
            <a:avLst/>
          </a:prstGeom>
          <a:solidFill>
            <a:srgbClr val="C89B4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435608" y="4837176"/>
            <a:ext cx="4070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Имущество остаётся у вас до продажи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1207008" y="5212080"/>
            <a:ext cx="64008" cy="64008"/>
          </a:xfrm>
          <a:prstGeom prst="ellipse">
            <a:avLst/>
          </a:prstGeom>
          <a:solidFill>
            <a:srgbClr val="C89B45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435608" y="5138928"/>
            <a:ext cx="4070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Оценка, лоты, объявления, покупатели, выдача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1207008" y="5513832"/>
            <a:ext cx="64008" cy="64008"/>
          </a:xfrm>
          <a:prstGeom prst="ellipse">
            <a:avLst/>
          </a:prstGeom>
          <a:solidFill>
            <a:srgbClr val="C89B45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435608" y="5440680"/>
            <a:ext cx="4070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Подходит, когда срок не горит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246724" y="2048256"/>
            <a:ext cx="5167732" cy="3703320"/>
          </a:xfrm>
          <a:prstGeom prst="roundRect">
            <a:avLst>
              <a:gd name="adj" fmla="val 1235"/>
            </a:avLst>
          </a:prstGeom>
          <a:solidFill>
            <a:srgbClr val="1A2F3B">
              <a:alpha val="85000"/>
            </a:srgbClr>
          </a:solidFill>
          <a:ln w="19050">
            <a:solidFill>
              <a:srgbClr val="C89B45"/>
            </a:solidFill>
            <a:prstDash val="solid"/>
          </a:ln>
        </p:spPr>
      </p:sp>
      <p:pic>
        <p:nvPicPr>
          <p:cNvPr id="20" name="Image 1" descr="/home/user/mysteryslavic-2026-07-19_16-47-00/presentations/office-client/assets/ic-ke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8204" y="2432304"/>
            <a:ext cx="402336" cy="402336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206844" y="2523744"/>
            <a:ext cx="37961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9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ФОРМАТ B · РЕКОМЕНДУЕМ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6658204" y="3017520"/>
            <a:ext cx="43447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ОСВОБОЖДЕНИЕ ПОД КЛЮЧ</a:t>
            </a:r>
            <a:endParaRPr lang="en-US" sz="2100" dirty="0"/>
          </a:p>
        </p:txBody>
      </p:sp>
      <p:sp>
        <p:nvSpPr>
          <p:cNvPr id="23" name="Text 19"/>
          <p:cNvSpPr txBox="1"/>
          <p:nvPr/>
        </p:nvSpPr>
        <p:spPr>
          <a:xfrm>
            <a:off x="6658204" y="3767328"/>
            <a:ext cx="43447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25 000 ₽ + 35%</a:t>
            </a:r>
            <a:endParaRPr lang="en-US" sz="3000" dirty="0"/>
          </a:p>
        </p:txBody>
      </p:sp>
      <p:sp>
        <p:nvSpPr>
          <p:cNvPr id="24" name="Text 20"/>
          <p:cNvSpPr txBox="1"/>
          <p:nvPr/>
        </p:nvSpPr>
        <p:spPr>
          <a:xfrm>
            <a:off x="6658204" y="4261104"/>
            <a:ext cx="43447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 суммы продаж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658204" y="4663440"/>
            <a:ext cx="4344772" cy="10973"/>
          </a:xfrm>
          <a:prstGeom prst="rect">
            <a:avLst/>
          </a:prstGeom>
          <a:solidFill>
            <a:srgbClr val="6E5426"/>
          </a:solidFill>
          <a:ln/>
        </p:spPr>
      </p:sp>
      <p:sp>
        <p:nvSpPr>
          <p:cNvPr id="26" name="Shape 22"/>
          <p:cNvSpPr/>
          <p:nvPr/>
        </p:nvSpPr>
        <p:spPr>
          <a:xfrm>
            <a:off x="6676492" y="4910328"/>
            <a:ext cx="64008" cy="64008"/>
          </a:xfrm>
          <a:prstGeom prst="ellipse">
            <a:avLst/>
          </a:prstGeom>
          <a:solidFill>
            <a:srgbClr val="C89B45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6905092" y="4837176"/>
            <a:ext cx="4070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Помещение свободно к согласованной дате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676492" y="5212080"/>
            <a:ext cx="64008" cy="64008"/>
          </a:xfrm>
          <a:prstGeom prst="ellipse">
            <a:avLst/>
          </a:prstGeom>
          <a:solidFill>
            <a:srgbClr val="C89B45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905092" y="5138928"/>
            <a:ext cx="4070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Демонтаж, вывоз, хранение и реализация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6676492" y="5513832"/>
            <a:ext cx="64008" cy="64008"/>
          </a:xfrm>
          <a:prstGeom prst="ellipse">
            <a:avLst/>
          </a:prstGeom>
          <a:solidFill>
            <a:srgbClr val="C89B45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6905092" y="5440680"/>
            <a:ext cx="4070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Продаём дальше без вашего участия</a:t>
            </a:r>
            <a:endParaRPr lang="en-US" sz="1250" dirty="0"/>
          </a:p>
        </p:txBody>
      </p:sp>
      <p:sp>
        <p:nvSpPr>
          <p:cNvPr id="32" name="Text 28"/>
          <p:cNvSpPr txBox="1"/>
          <p:nvPr/>
        </p:nvSpPr>
        <p:spPr>
          <a:xfrm>
            <a:off x="777240" y="6089904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kern="0" spc="160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ДЕНЬГИ ЗА ИМУЩЕСТВО ПРИХОДЯТ НАПРЯМУЮ ВАШЕЙ КОМПАНИИ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58368"/>
            <a:ext cx="106372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6E5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ПРОЗРАЧНОСТЬ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042416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КАЖДАЯ ПОЗИЦИЯ</a:t>
            </a:r>
            <a:endParaRPr lang="en-US" sz="3600" dirty="0"/>
          </a:p>
          <a:p>
            <a:pPr marL="0" indent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ЗАФИКСИРОВАНА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798064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5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Состояние, стартовая и минимальная цена</a:t>
            </a:r>
            <a:endParaRPr lang="en-US" sz="15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5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фиксируются до старта продаж.</a:t>
            </a:r>
            <a:endParaRPr lang="en-US" sz="15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5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 видите статус каждой позиции.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77240" y="4626864"/>
            <a:ext cx="5212080" cy="1133856"/>
          </a:xfrm>
          <a:prstGeom prst="roundRect">
            <a:avLst>
              <a:gd name="adj" fmla="val 4839"/>
            </a:avLst>
          </a:prstGeom>
          <a:solidFill>
            <a:srgbClr val="0C1D28"/>
          </a:solidFill>
          <a:ln/>
        </p:spPr>
      </p:sp>
      <p:pic>
        <p:nvPicPr>
          <p:cNvPr id="6" name="Image 0" descr="/home/user/mysteryslavic-2026-07-19_16-47-00/presentations/office-client/assets/ic-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" y="50292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73352" y="493776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НИЖЕ МИНИМАЛЬНОЙ ЦЕНЫ —</a:t>
            </a:r>
            <a:endParaRPr lang="en-US" sz="14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ТОЛЬКО С ВАШЕГО СОГЛАСИЯ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92240" y="777240"/>
            <a:ext cx="4919472" cy="5303520"/>
          </a:xfrm>
          <a:prstGeom prst="roundRect">
            <a:avLst>
              <a:gd name="adj" fmla="val 929"/>
            </a:avLst>
          </a:prstGeom>
          <a:solidFill>
            <a:srgbClr val="FFFFFF"/>
          </a:solidFill>
          <a:ln w="12700">
            <a:solidFill>
              <a:srgbClr val="DCD3C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76288" y="10972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6E5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КАРТОЧКА ПОЗИЦИИ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0204704" y="1051560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EFE7D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204704" y="11064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ПРИМЕР</a:t>
            </a:r>
            <a:endParaRPr lang="en-US" sz="950" dirty="0"/>
          </a:p>
        </p:txBody>
      </p:sp>
      <p:pic>
        <p:nvPicPr>
          <p:cNvPr id="12" name="Image 1" descr="/home/user/mysteryslavic-2026-07-19_16-47-00/presentations/office-client/assets/ph-P8-chair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6288" y="1517904"/>
            <a:ext cx="4151376" cy="157276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876288" y="1517904"/>
            <a:ext cx="4151376" cy="1572768"/>
          </a:xfrm>
          <a:prstGeom prst="roundRect">
            <a:avLst>
              <a:gd name="adj" fmla="val 2326"/>
            </a:avLst>
          </a:prstGeom>
          <a:solidFill>
            <a:srgbClr val="FFFFFF">
              <a:alpha val="0"/>
            </a:srgbClr>
          </a:solidFill>
          <a:ln w="12700">
            <a:solidFill>
              <a:srgbClr val="DCD3C4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876288" y="3236976"/>
            <a:ext cx="4151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Кресло эргономичное, сетка · 17 шт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876288" y="37124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Зона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8887968" y="3712464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space · Z02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876288" y="4014216"/>
            <a:ext cx="4151376" cy="9144"/>
          </a:xfrm>
          <a:prstGeom prst="rect">
            <a:avLst/>
          </a:prstGeom>
          <a:solidFill>
            <a:srgbClr val="EFE7DA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876288" y="41148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Состояние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8887968" y="411480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Хорошее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876288" y="4416552"/>
            <a:ext cx="4151376" cy="9144"/>
          </a:xfrm>
          <a:prstGeom prst="rect">
            <a:avLst/>
          </a:prstGeom>
          <a:solidFill>
            <a:srgbClr val="EFE7DA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876288" y="45171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Стартовая цена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8887968" y="4517136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6 500 ₽ / шт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6876288" y="4818888"/>
            <a:ext cx="4151376" cy="9144"/>
          </a:xfrm>
          <a:prstGeom prst="rect">
            <a:avLst/>
          </a:prstGeom>
          <a:solidFill>
            <a:srgbClr val="EFE7DA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6876288" y="49194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Минимальная цена</a:t>
            </a:r>
            <a:endParaRPr lang="en-US" sz="1250" dirty="0"/>
          </a:p>
        </p:txBody>
      </p:sp>
      <p:sp>
        <p:nvSpPr>
          <p:cNvPr id="25" name="Text 21"/>
          <p:cNvSpPr txBox="1"/>
          <p:nvPr/>
        </p:nvSpPr>
        <p:spPr>
          <a:xfrm>
            <a:off x="8887968" y="4919472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4 000 ₽ / шт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876288" y="5221224"/>
            <a:ext cx="4151376" cy="9144"/>
          </a:xfrm>
          <a:prstGeom prst="rect">
            <a:avLst/>
          </a:prstGeom>
          <a:solidFill>
            <a:srgbClr val="EFE7DA"/>
          </a:solidFill>
          <a:ln/>
        </p:spPr>
      </p:sp>
      <p:sp>
        <p:nvSpPr>
          <p:cNvPr id="27" name="Shape 23"/>
          <p:cNvSpPr/>
          <p:nvPr/>
        </p:nvSpPr>
        <p:spPr>
          <a:xfrm>
            <a:off x="6876288" y="5449824"/>
            <a:ext cx="1517904" cy="329184"/>
          </a:xfrm>
          <a:prstGeom prst="roundRect">
            <a:avLst>
              <a:gd name="adj" fmla="val 13889"/>
            </a:avLst>
          </a:prstGeom>
          <a:solidFill>
            <a:srgbClr val="0C1D28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6876288" y="5513832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ПРОДАЖЕ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28">
              <a:alpha val="8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566928"/>
            <a:ext cx="106372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C89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ПОСЛЕ ВЫВОЗА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060704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ПОМЕЩЕНИЕ</a:t>
            </a:r>
            <a:endParaRPr lang="en-US" sz="34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БОЛЬШЕ</a:t>
            </a:r>
            <a:endParaRPr lang="en-US" sz="34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ЗАВИСИТ</a:t>
            </a:r>
            <a:endParaRPr lang="en-US" sz="34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 ПРОДАЖ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4791456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Дата освобождения не зависит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 того, успел ли продаться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последний стол.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298448"/>
            <a:ext cx="5379415" cy="1371600"/>
          </a:xfrm>
          <a:prstGeom prst="roundRect">
            <a:avLst>
              <a:gd name="adj" fmla="val 3333"/>
            </a:avLst>
          </a:prstGeom>
          <a:solidFill>
            <a:srgbClr val="1A2F3B">
              <a:alpha val="65000"/>
            </a:srgbClr>
          </a:solidFill>
          <a:ln w="12700">
            <a:solidFill>
              <a:srgbClr val="6E5426"/>
            </a:solidFill>
            <a:prstDash val="solid"/>
          </a:ln>
        </p:spPr>
      </p:sp>
      <p:pic>
        <p:nvPicPr>
          <p:cNvPr id="7" name="Image 0" descr="/home/user/mysteryslavic-2026-07-19_16-47-00/presentations/office-client/assets/ic-tru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1755648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132320" y="1609344"/>
            <a:ext cx="3870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140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ВЫВОЗИМ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132320" y="1956816"/>
            <a:ext cx="3870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согласованное имущество уезжает к вашей дате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035040" y="2926080"/>
            <a:ext cx="5379415" cy="1371600"/>
          </a:xfrm>
          <a:prstGeom prst="roundRect">
            <a:avLst>
              <a:gd name="adj" fmla="val 3333"/>
            </a:avLst>
          </a:prstGeom>
          <a:solidFill>
            <a:srgbClr val="1A2F3B">
              <a:alpha val="65000"/>
            </a:srgbClr>
          </a:solidFill>
          <a:ln w="12700">
            <a:solidFill>
              <a:srgbClr val="6E5426"/>
            </a:solidFill>
            <a:prstDash val="solid"/>
          </a:ln>
        </p:spPr>
      </p:sp>
      <p:pic>
        <p:nvPicPr>
          <p:cNvPr id="11" name="Image 1" descr="/home/user/mysteryslavic-2026-07-19_16-47-00/presentations/office-client/assets/ic-ta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33832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32320" y="3236976"/>
            <a:ext cx="3870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140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ПРОДАЁМ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132320" y="3584448"/>
            <a:ext cx="3870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дальше работаем с покупателями без вашего участия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035040" y="4553712"/>
            <a:ext cx="5379415" cy="1371600"/>
          </a:xfrm>
          <a:prstGeom prst="roundRect">
            <a:avLst>
              <a:gd name="adj" fmla="val 3333"/>
            </a:avLst>
          </a:prstGeom>
          <a:solidFill>
            <a:srgbClr val="1A2F3B">
              <a:alpha val="65000"/>
            </a:srgbClr>
          </a:solidFill>
          <a:ln w="12700">
            <a:solidFill>
              <a:srgbClr val="6E5426"/>
            </a:solidFill>
            <a:prstDash val="solid"/>
          </a:ln>
        </p:spPr>
      </p:sp>
      <p:pic>
        <p:nvPicPr>
          <p:cNvPr id="15" name="Image 2" descr="/home/user/mysteryslavic-2026-07-19_16-47-00/presentations/office-client/assets/ic-checkcirc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088" y="5010912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132320" y="4864608"/>
            <a:ext cx="3870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140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ОСТАТОК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7132320" y="5212080"/>
            <a:ext cx="3870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финальный маршрут согласован заранее: передача, вторсырьё или утилизация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372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6E5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КОРПОРАТИВНЫЙ КОНТУР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ВЫЕЗД И ДОКУМЕНТЫ БЕЗ СЮРПРИЗОВ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77240" y="1883664"/>
            <a:ext cx="5167732" cy="3529584"/>
          </a:xfrm>
          <a:prstGeom prst="roundRect">
            <a:avLst>
              <a:gd name="adj" fmla="val 1295"/>
            </a:avLst>
          </a:prstGeom>
          <a:solidFill>
            <a:srgbClr val="FFFFFF"/>
          </a:solidFill>
          <a:ln w="12700">
            <a:solidFill>
              <a:srgbClr val="DCD3C4"/>
            </a:solidFill>
            <a:prstDash val="solid"/>
          </a:ln>
        </p:spPr>
      </p:sp>
      <p:pic>
        <p:nvPicPr>
          <p:cNvPr id="5" name="Image 0" descr="/home/user/mysteryslavic-2026-07-19_16-47-00/presentations/office-client/assets/ic-briefcase-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2267712"/>
            <a:ext cx="402336" cy="4023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64792" y="2340864"/>
            <a:ext cx="3796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kern="0" spc="80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ВЫЕЗД ПО ПРАВИЛАМ БЦ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1188720" y="2944368"/>
            <a:ext cx="4344772" cy="10973"/>
          </a:xfrm>
          <a:prstGeom prst="rect">
            <a:avLst/>
          </a:prstGeom>
          <a:solidFill>
            <a:srgbClr val="DCD3C4"/>
          </a:solidFill>
          <a:ln/>
        </p:spPr>
      </p:sp>
      <p:sp>
        <p:nvSpPr>
          <p:cNvPr id="8" name="Shape 5"/>
          <p:cNvSpPr/>
          <p:nvPr/>
        </p:nvSpPr>
        <p:spPr>
          <a:xfrm>
            <a:off x="1207008" y="3282696"/>
            <a:ext cx="73152" cy="73152"/>
          </a:xfrm>
          <a:prstGeom prst="ellipse">
            <a:avLst/>
          </a:prstGeom>
          <a:solidFill>
            <a:srgbClr val="C89B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472184" y="3182112"/>
            <a:ext cx="4033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согласование дня и времени вывоза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207008" y="3721608"/>
            <a:ext cx="73152" cy="73152"/>
          </a:xfrm>
          <a:prstGeom prst="ellipse">
            <a:avLst/>
          </a:prstGeom>
          <a:solidFill>
            <a:srgbClr val="C89B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472184" y="3621024"/>
            <a:ext cx="4033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пропуска и материальные пропуска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207008" y="4160520"/>
            <a:ext cx="73152" cy="73152"/>
          </a:xfrm>
          <a:prstGeom prst="ellipse">
            <a:avLst/>
          </a:prstGeom>
          <a:solidFill>
            <a:srgbClr val="C89B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472184" y="4059936"/>
            <a:ext cx="4033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грузовой лифт и маршрут движения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207008" y="4599432"/>
            <a:ext cx="73152" cy="73152"/>
          </a:xfrm>
          <a:prstGeom prst="ellipse">
            <a:avLst/>
          </a:prstGeom>
          <a:solidFill>
            <a:srgbClr val="C89B4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472184" y="4498848"/>
            <a:ext cx="4033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защита лифтов, стен и пола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207008" y="5038344"/>
            <a:ext cx="73152" cy="73152"/>
          </a:xfrm>
          <a:prstGeom prst="ellipse">
            <a:avLst/>
          </a:prstGeom>
          <a:solidFill>
            <a:srgbClr val="C89B45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472184" y="4937760"/>
            <a:ext cx="4033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уборка помещения после вывоза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246724" y="1883664"/>
            <a:ext cx="5167732" cy="3529584"/>
          </a:xfrm>
          <a:prstGeom prst="roundRect">
            <a:avLst>
              <a:gd name="adj" fmla="val 1295"/>
            </a:avLst>
          </a:prstGeom>
          <a:solidFill>
            <a:srgbClr val="FFFFFF"/>
          </a:solidFill>
          <a:ln w="12700">
            <a:solidFill>
              <a:srgbClr val="DCD3C4"/>
            </a:solidFill>
            <a:prstDash val="solid"/>
          </a:ln>
        </p:spPr>
      </p:sp>
      <p:pic>
        <p:nvPicPr>
          <p:cNvPr id="19" name="Image 1" descr="/home/user/mysteryslavic-2026-07-19_16-47-00/presentations/office-client/assets/ic-folder-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8204" y="2267712"/>
            <a:ext cx="402336" cy="402336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234276" y="2340864"/>
            <a:ext cx="3796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kern="0" spc="80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ДОКУМЕНТЫ ДЛЯ БУХГАЛТЕРИИ</a:t>
            </a:r>
            <a:endParaRPr lang="en-US" sz="1550" dirty="0"/>
          </a:p>
        </p:txBody>
      </p:sp>
      <p:sp>
        <p:nvSpPr>
          <p:cNvPr id="21" name="Shape 17"/>
          <p:cNvSpPr/>
          <p:nvPr/>
        </p:nvSpPr>
        <p:spPr>
          <a:xfrm>
            <a:off x="6658204" y="2944368"/>
            <a:ext cx="4344772" cy="10973"/>
          </a:xfrm>
          <a:prstGeom prst="rect">
            <a:avLst/>
          </a:prstGeom>
          <a:solidFill>
            <a:srgbClr val="DCD3C4"/>
          </a:solidFill>
          <a:ln/>
        </p:spPr>
      </p:sp>
      <p:sp>
        <p:nvSpPr>
          <p:cNvPr id="22" name="Shape 18"/>
          <p:cNvSpPr/>
          <p:nvPr/>
        </p:nvSpPr>
        <p:spPr>
          <a:xfrm>
            <a:off x="6676492" y="3282696"/>
            <a:ext cx="73152" cy="73152"/>
          </a:xfrm>
          <a:prstGeom prst="ellipse">
            <a:avLst/>
          </a:prstGeom>
          <a:solidFill>
            <a:srgbClr val="C89B45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941668" y="3182112"/>
            <a:ext cx="4033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реестр имущества с маршрутом каждой позиции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6676492" y="3721608"/>
            <a:ext cx="73152" cy="73152"/>
          </a:xfrm>
          <a:prstGeom prst="ellipse">
            <a:avLst/>
          </a:prstGeom>
          <a:solidFill>
            <a:srgbClr val="C89B45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941668" y="3621024"/>
            <a:ext cx="4033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кому и за сколько продано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6676492" y="4160520"/>
            <a:ext cx="73152" cy="73152"/>
          </a:xfrm>
          <a:prstGeom prst="ellipse">
            <a:avLst/>
          </a:prstGeom>
          <a:solidFill>
            <a:srgbClr val="C89B45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6941668" y="4059936"/>
            <a:ext cx="4033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акты на вывоз и утилизацию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6676492" y="4599432"/>
            <a:ext cx="73152" cy="73152"/>
          </a:xfrm>
          <a:prstGeom prst="ellipse">
            <a:avLst/>
          </a:prstGeom>
          <a:solidFill>
            <a:srgbClr val="C89B45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941668" y="4498848"/>
            <a:ext cx="4033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итоговый отчёт по проекту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777240" y="5669280"/>
            <a:ext cx="10637215" cy="658368"/>
          </a:xfrm>
          <a:prstGeom prst="roundRect">
            <a:avLst>
              <a:gd name="adj" fmla="val 8333"/>
            </a:avLst>
          </a:prstGeom>
          <a:solidFill>
            <a:srgbClr val="0C1D28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77240" y="5870448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kern="0" spc="14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СОБСТВЕННИК ИМУЩЕСТВА — ВАША КОМПАНИЯ. МЫ ПОЛУЧАЕМ ОПЛАТУ ЗА УСЛУГУ.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28">
              <a:alpha val="8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603504"/>
            <a:ext cx="106372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C89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НАЧАЛО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950976"/>
            <a:ext cx="7315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 В 2 ШАГА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77240" y="2395728"/>
            <a:ext cx="694944" cy="694944"/>
          </a:xfrm>
          <a:prstGeom prst="ellipse">
            <a:avLst/>
          </a:prstGeom>
          <a:solidFill>
            <a:srgbClr val="1A2F3B"/>
          </a:solidFill>
          <a:ln w="17780">
            <a:solidFill>
              <a:srgbClr val="C89B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578608"/>
            <a:ext cx="694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801368" y="241401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kern="0" spc="12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ПРИШЛИТЕ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801368" y="2871216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3–5 минут видео офиса</a:t>
            </a:r>
            <a:endParaRPr lang="en-US" sz="15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 дату освобождения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4206240"/>
            <a:ext cx="694944" cy="694944"/>
          </a:xfrm>
          <a:prstGeom prst="ellipse">
            <a:avLst/>
          </a:prstGeom>
          <a:solidFill>
            <a:srgbClr val="1A2F3B"/>
          </a:solidFill>
          <a:ln w="17780">
            <a:solidFill>
              <a:srgbClr val="C89B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4389120"/>
            <a:ext cx="694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801368" y="4224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kern="0" spc="12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ПОЛУЧИТЕ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1801368" y="4681728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маршрут имущества</a:t>
            </a:r>
            <a:endParaRPr lang="en-US" sz="15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 предварительный расчёт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79208" y="2340864"/>
            <a:ext cx="4032504" cy="2999232"/>
          </a:xfrm>
          <a:prstGeom prst="roundRect">
            <a:avLst>
              <a:gd name="adj" fmla="val 1829"/>
            </a:avLst>
          </a:prstGeom>
          <a:solidFill>
            <a:srgbClr val="1A2F3B">
              <a:alpha val="80000"/>
            </a:srgbClr>
          </a:solidFill>
          <a:ln w="19050">
            <a:solidFill>
              <a:srgbClr val="C89B45"/>
            </a:solidFill>
            <a:prstDash val="solid"/>
          </a:ln>
        </p:spPr>
      </p:sp>
      <p:pic>
        <p:nvPicPr>
          <p:cNvPr id="14" name="Image 0" descr="/home/user/mysteryslavic-2026-07-19_16-47-00/presentations/office-client/assets/ic-p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4564" y="2798064"/>
            <a:ext cx="621792" cy="621792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7653528" y="3785616"/>
            <a:ext cx="3483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БЕСПЛАТНАЯ</a:t>
            </a:r>
            <a:endParaRPr lang="en-US" sz="1900" dirty="0"/>
          </a:p>
          <a:p>
            <a:pPr marL="0" indent="0" algn="ctr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ПРЕДВАРИТЕЛЬНАЯ</a:t>
            </a:r>
            <a:endParaRPr lang="en-US" sz="1900" dirty="0"/>
          </a:p>
          <a:p>
            <a:pPr marL="0" indent="0" algn="ctr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ОЦЕНКА ПО ВИДЕО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6053328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Отдельная большая инвентаризация до первичной оценки не нужна.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12064"/>
            <a:ext cx="106372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40" dirty="0">
                <a:solidFill>
                  <a:srgbClr val="6E5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ОБЫЧНО СПРАШИВАЮТ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412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ЧАСТЫЕ ВОПРОСЫ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7739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C89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307592" y="1737360"/>
            <a:ext cx="44910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Кому идут деньги за имущество?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307592" y="2395728"/>
            <a:ext cx="44910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Напрямую вашей компании. Мы получаем оплату за услугу.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3090672"/>
            <a:ext cx="5021428" cy="10973"/>
          </a:xfrm>
          <a:prstGeom prst="rect">
            <a:avLst/>
          </a:prstGeom>
          <a:solidFill>
            <a:srgbClr val="DCD3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93028" y="17739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C89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923380" y="1737360"/>
            <a:ext cx="44910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с непроданным?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6923380" y="2395728"/>
            <a:ext cx="44910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Финальный маршрут согласуем заранее: передача, вторсырьё или утилизация.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93028" y="3090672"/>
            <a:ext cx="5021428" cy="10973"/>
          </a:xfrm>
          <a:prstGeom prst="rect">
            <a:avLst/>
          </a:prstGeom>
          <a:solidFill>
            <a:srgbClr val="DCD3C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3467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C89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307592" y="3310128"/>
            <a:ext cx="44910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 данные на технике?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307592" y="3968496"/>
            <a:ext cx="44910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Учётки отвязываем, накопители стираем или изымаем до передачи.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4663440"/>
            <a:ext cx="5021428" cy="10973"/>
          </a:xfrm>
          <a:prstGeom prst="rect">
            <a:avLst/>
          </a:prstGeom>
          <a:solidFill>
            <a:srgbClr val="DCD3C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93028" y="33467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C89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923380" y="3310128"/>
            <a:ext cx="44910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Можно задать минимальные цены?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6923380" y="3968496"/>
            <a:ext cx="44910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Да. Фиксируем до старта продаж, ниже — только с вашего согласия.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93028" y="4663440"/>
            <a:ext cx="5021428" cy="10973"/>
          </a:xfrm>
          <a:prstGeom prst="rect">
            <a:avLst/>
          </a:prstGeom>
          <a:solidFill>
            <a:srgbClr val="DCD3C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49194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C89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307592" y="4882896"/>
            <a:ext cx="44910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Работаете с юрлицами?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1307592" y="5541264"/>
            <a:ext cx="44910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Договор, счёт, безналичный расчёт и закрывающие документы.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77240" y="6236208"/>
            <a:ext cx="5021428" cy="10973"/>
          </a:xfrm>
          <a:prstGeom prst="rect">
            <a:avLst/>
          </a:prstGeom>
          <a:solidFill>
            <a:srgbClr val="DCD3C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93028" y="49194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C89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923380" y="4882896"/>
            <a:ext cx="44910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0C1D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Имущество на балансе или в лизинге?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6923380" y="5541264"/>
            <a:ext cx="44910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6F6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Сначала разложим, чем компания вправе распоряжаться, и только потом публикуем.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393028" y="6236208"/>
            <a:ext cx="5021428" cy="10973"/>
          </a:xfrm>
          <a:prstGeom prst="rect">
            <a:avLst/>
          </a:prstGeom>
          <a:solidFill>
            <a:srgbClr val="DCD3C4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ysteryslavic-2026-07-19_16-47-00/presentations/office-client/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5720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417320" y="47548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ПРОДАЙ ЗА МЕНЯ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1417320" y="7132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CA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Освобождение офиса под ключ · Казань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1572768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ПРИШЛИТЕ</a:t>
            </a:r>
            <a:endParaRPr lang="en-US" sz="4400" dirty="0"/>
          </a:p>
          <a:p>
            <a:pPr marL="0" indent="0">
              <a:lnSpc>
                <a:spcPts val="5000"/>
              </a:lnSpc>
              <a:buNone/>
            </a:pPr>
            <a:r>
              <a:rPr lang="ru-RU" sz="4400" b="1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ФОТО</a:t>
            </a:r>
            <a:r>
              <a:rPr lang="en-US" sz="4400" b="1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ОФИСА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777240" y="3346704"/>
            <a:ext cx="1371600" cy="32004"/>
          </a:xfrm>
          <a:prstGeom prst="rect">
            <a:avLst/>
          </a:prstGeom>
          <a:solidFill>
            <a:srgbClr val="C89B4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3639312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900" b="1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БЕСПЛАТНО ОЦЕНИМ,</a:t>
            </a:r>
            <a:endParaRPr lang="en-US" sz="1900" dirty="0"/>
          </a:p>
          <a:p>
            <a:pPr marL="0" indent="0">
              <a:lnSpc>
                <a:spcPts val="2700"/>
              </a:lnSpc>
              <a:buNone/>
            </a:pPr>
            <a:r>
              <a:rPr lang="en-US" sz="1900" b="1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МОЖНО ВЕРНУТЬ ДЕНЬГАМИ</a:t>
            </a:r>
            <a:endParaRPr lang="en-US" sz="1900" dirty="0"/>
          </a:p>
        </p:txBody>
      </p:sp>
      <p:pic>
        <p:nvPicPr>
          <p:cNvPr id="8" name="Image 1" descr="/home/user/mysteryslavic-2026-07-19_16-47-00/presentations/office-client/assets/ic-ph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974336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07592" y="49560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+7 965 595-99-97</a:t>
            </a:r>
            <a:endParaRPr lang="en-US" sz="1900" dirty="0"/>
          </a:p>
        </p:txBody>
      </p:sp>
      <p:pic>
        <p:nvPicPr>
          <p:cNvPr id="10" name="Image 2" descr="/home/user/mysteryslavic-2026-07-19_16-47-00/presentations/office-client/assets/ic-mai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632704"/>
            <a:ext cx="310896" cy="31089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07592" y="56235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ODRybakov@mail.ru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6713068" y="2487168"/>
            <a:ext cx="2121408" cy="2761488"/>
          </a:xfrm>
          <a:prstGeom prst="roundRect">
            <a:avLst>
              <a:gd name="adj" fmla="val 2586"/>
            </a:avLst>
          </a:prstGeom>
          <a:solidFill>
            <a:srgbClr val="0C1D28"/>
          </a:solidFill>
          <a:ln w="12700">
            <a:solidFill>
              <a:srgbClr val="6E5426"/>
            </a:solidFill>
            <a:prstDash val="solid"/>
          </a:ln>
        </p:spPr>
      </p:sp>
      <p:pic>
        <p:nvPicPr>
          <p:cNvPr id="13" name="Image 3" descr="/home/user/mysteryslavic-2026-07-19_16-47-00/presentations/office-client/assets/ic-se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0036" y="2724912"/>
            <a:ext cx="347472" cy="347472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932524" y="3145536"/>
            <a:ext cx="1682496" cy="1682496"/>
          </a:xfrm>
          <a:prstGeom prst="roundRect">
            <a:avLst>
              <a:gd name="adj" fmla="val 2717"/>
            </a:avLst>
          </a:prstGeom>
          <a:solidFill>
            <a:srgbClr val="F7F1E7"/>
          </a:solidFill>
          <a:ln/>
        </p:spPr>
      </p:sp>
      <p:pic>
        <p:nvPicPr>
          <p:cNvPr id="15" name="Image 4" descr="/home/user/mysteryslavic-2026-07-19_16-47-00/presentations/office-client/assets/qr-telegra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7388" y="3200400"/>
            <a:ext cx="1572768" cy="157276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6713068" y="4882896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kern="0" spc="200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TELEGRAM</a:t>
            </a:r>
            <a:endParaRPr lang="en-US" sz="1250" dirty="0"/>
          </a:p>
        </p:txBody>
      </p:sp>
      <p:sp>
        <p:nvSpPr>
          <p:cNvPr id="17" name="Shape 10"/>
          <p:cNvSpPr/>
          <p:nvPr/>
        </p:nvSpPr>
        <p:spPr>
          <a:xfrm>
            <a:off x="9218524" y="2487168"/>
            <a:ext cx="2121408" cy="2761488"/>
          </a:xfrm>
          <a:prstGeom prst="roundRect">
            <a:avLst>
              <a:gd name="adj" fmla="val 2586"/>
            </a:avLst>
          </a:prstGeom>
          <a:solidFill>
            <a:srgbClr val="0C1D28"/>
          </a:solidFill>
          <a:ln w="12700">
            <a:solidFill>
              <a:srgbClr val="6E5426"/>
            </a:solidFill>
            <a:prstDash val="solid"/>
          </a:ln>
        </p:spPr>
      </p:sp>
      <p:pic>
        <p:nvPicPr>
          <p:cNvPr id="18" name="Image 5" descr="/home/user/mysteryslavic-2026-07-19_16-47-00/presentations/office-client/assets/ic-messagecirc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05492" y="2724912"/>
            <a:ext cx="347472" cy="347472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9437980" y="3145536"/>
            <a:ext cx="1682496" cy="1682496"/>
          </a:xfrm>
          <a:prstGeom prst="roundRect">
            <a:avLst>
              <a:gd name="adj" fmla="val 2717"/>
            </a:avLst>
          </a:prstGeom>
          <a:solidFill>
            <a:srgbClr val="F7F1E7"/>
          </a:solidFill>
          <a:ln/>
        </p:spPr>
      </p:sp>
      <p:pic>
        <p:nvPicPr>
          <p:cNvPr id="20" name="Image 6" descr="/home/user/mysteryslavic-2026-07-19_16-47-00/presentations/office-client/assets/qr-max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92844" y="3200400"/>
            <a:ext cx="1572768" cy="1572768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9218524" y="4882896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kern="0" spc="200" dirty="0">
                <a:solidFill>
                  <a:srgbClr val="D9BC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</a:t>
            </a:r>
            <a:endParaRPr lang="en-US" sz="1250" dirty="0"/>
          </a:p>
        </p:txBody>
      </p:sp>
      <p:sp>
        <p:nvSpPr>
          <p:cNvPr id="22" name="Shape 13"/>
          <p:cNvSpPr/>
          <p:nvPr/>
        </p:nvSpPr>
        <p:spPr>
          <a:xfrm>
            <a:off x="6713068" y="5468112"/>
            <a:ext cx="4626864" cy="420624"/>
          </a:xfrm>
          <a:prstGeom prst="roundRect">
            <a:avLst>
              <a:gd name="adj" fmla="val 13043"/>
            </a:avLst>
          </a:prstGeom>
          <a:solidFill>
            <a:srgbClr val="0C1D28">
              <a:alpha val="88000"/>
            </a:srgbClr>
          </a:solidFill>
          <a:ln/>
        </p:spPr>
      </p:sp>
      <p:sp>
        <p:nvSpPr>
          <p:cNvPr id="23" name="Text 14"/>
          <p:cNvSpPr txBox="1"/>
          <p:nvPr/>
        </p:nvSpPr>
        <p:spPr>
          <a:xfrm>
            <a:off x="6713068" y="5468112"/>
            <a:ext cx="4626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7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Наведите камеру — напишите нам в мессенджер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764</Words>
  <Application>Microsoft Macintosh PowerPoint</Application>
  <PresentationFormat>Widescreen</PresentationFormat>
  <Paragraphs>203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Продай за меня — Офисы. Клиентская презентация</dc:title>
  <dc:subject>PptxGenJS Presentation</dc:subject>
  <dc:creator>Продай за меня</dc:creator>
  <cp:lastModifiedBy>Олег Рыбаков</cp:lastModifiedBy>
  <cp:revision>3</cp:revision>
  <dcterms:created xsi:type="dcterms:W3CDTF">2026-09-06T17:25:35Z</dcterms:created>
  <dcterms:modified xsi:type="dcterms:W3CDTF">2026-09-07T10:28:48Z</dcterms:modified>
</cp:coreProperties>
</file>