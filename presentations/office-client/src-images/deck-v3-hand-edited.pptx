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2" r:id="rId5"/>
    <p:sldId id="260" r:id="rId6"/>
    <p:sldId id="261" r:id="rId7"/>
    <p:sldId id="264" r:id="rId8"/>
    <p:sldId id="266" r:id="rId9"/>
    <p:sldId id="269" r:id="rId10"/>
    <p:sldId id="268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611"/>
    <p:restoredTop sz="94610"/>
  </p:normalViewPr>
  <p:slideViewPr>
    <p:cSldViewPr snapToGrid="0" snapToObjects="1">
      <p:cViewPr>
        <p:scale>
          <a:sx n="188" d="100"/>
          <a:sy n="188" d="100"/>
        </p:scale>
        <p:origin x="-6848" y="-2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5957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e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steryslavic-2026-07-19_16-47-00/presentations/office-client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6583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ПРОДАЙ ЗА МЕНЯ · КАЗАНЬ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572768"/>
            <a:ext cx="7863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5000" b="1" kern="0" spc="-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ОСВОБОДИМ</a:t>
            </a:r>
            <a:endParaRPr lang="en-US" sz="50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5000" b="1" kern="0" spc="-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ОФИС</a:t>
            </a:r>
            <a:endParaRPr lang="en-US" sz="50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5000" b="1" kern="0" spc="-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 КЛЮЧ</a:t>
            </a:r>
            <a:endParaRPr lang="en-US" sz="5000" dirty="0"/>
          </a:p>
        </p:txBody>
      </p:sp>
      <p:sp>
        <p:nvSpPr>
          <p:cNvPr id="5" name="Shape 2"/>
          <p:cNvSpPr/>
          <p:nvPr/>
        </p:nvSpPr>
        <p:spPr>
          <a:xfrm>
            <a:off x="777240" y="4526280"/>
            <a:ext cx="1371600" cy="32004"/>
          </a:xfrm>
          <a:prstGeom prst="rect">
            <a:avLst/>
          </a:prstGeom>
          <a:solidFill>
            <a:srgbClr val="C89B4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4828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ru-RU" sz="2700" b="1" kern="0" spc="6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СПРАВЕДЛИВЫЕ </a:t>
            </a:r>
            <a:r>
              <a:rPr lang="en-US" sz="2700" b="1" kern="0" spc="6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ДЕНЬГИ </a:t>
            </a:r>
            <a:endParaRPr lang="ru-RU" sz="2700" b="1" kern="0" spc="60" dirty="0">
              <a:solidFill>
                <a:srgbClr val="D9BC7A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700" b="1" kern="0" spc="6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</a:t>
            </a:r>
            <a:r>
              <a:rPr lang="ru-RU" sz="2700" b="1" kern="0" spc="6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ВСЕ</a:t>
            </a:r>
            <a:r>
              <a:rPr lang="en-US" sz="2700" b="1" kern="0" spc="6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ИМУЩЕСТВО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5961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21792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59944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ru-RU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</a:rPr>
              <a:t>ОТ ВЕЩЕЙ НУЖНО ИЗБАВИТЬСЯ БЫСТРО И ПРИБЫЛЬНО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592795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39" y="2126385"/>
            <a:ext cx="6662651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</a:t>
            </a:r>
            <a:r>
              <a:rPr lang="en-US" sz="4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вост</a:t>
            </a: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12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столов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 · 3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шкафа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 ·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микроволновка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…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ковролин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 ·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доска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 ·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кабели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…</a:t>
            </a:r>
          </a:p>
        </p:txBody>
      </p:sp>
      <p:sp>
        <p:nvSpPr>
          <p:cNvPr id="6" name="Shape 4"/>
          <p:cNvSpPr/>
          <p:nvPr/>
        </p:nvSpPr>
        <p:spPr>
          <a:xfrm>
            <a:off x="777239" y="4405727"/>
            <a:ext cx="5212080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39" y="4720938"/>
            <a:ext cx="5394960" cy="133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ru-RU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Продавать самому: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lvl="0">
              <a:lnSpc>
                <a:spcPct val="150000"/>
              </a:lnSpc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До 40 часов рабочего времени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28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77240" y="5669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ПУТИ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2252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решения «</a:t>
            </a:r>
            <a:r>
              <a:rPr lang="en-US" sz="1500" dirty="0" err="1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</a:t>
            </a:r>
            <a:r>
              <a:rPr lang="en-US" sz="15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5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</a:t>
            </a:r>
            <a:r>
              <a:rPr lang="en-US" sz="1500" dirty="0" err="1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забираем</a:t>
            </a:r>
            <a:r>
              <a:rPr lang="ru-RU" sz="15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из офиса</a:t>
            </a:r>
            <a:r>
              <a:rPr lang="en-US" sz="15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»</a:t>
            </a:r>
            <a:endParaRPr lang="en-US" sz="15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Image 0" descr="/home/user/mysteryslavic-2026-07-19_16-47-00/presentations/office-client/assets/ill-vyvez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709" y="1847088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4315968"/>
            <a:ext cx="324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kern="0" spc="8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</a:t>
            </a:r>
            <a:r>
              <a:rPr lang="ru-RU" sz="2200" b="1" kern="0" spc="8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БРОСИТЬ</a:t>
            </a:r>
            <a:r>
              <a:rPr lang="en-US" sz="2200" b="1" kern="0" spc="8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ВС</a:t>
            </a:r>
            <a:r>
              <a:rPr lang="ru-RU" sz="2200" b="1" kern="0" spc="8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814317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Заплатить </a:t>
            </a:r>
            <a:r>
              <a:rPr lang="en-US" dirty="0" err="1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</a:t>
            </a:r>
            <a:r>
              <a:rPr lang="en-US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</a:t>
            </a:r>
            <a:r>
              <a:rPr lang="ru-RU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з..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Image 1" descr="/home/user/mysteryslavic-2026-07-19_16-47-00/presentations/office-client/assets/ill-sam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848" y="1847088"/>
            <a:ext cx="2286000" cy="2286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75378" y="4315968"/>
            <a:ext cx="324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kern="0" spc="8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ПРОДАВАТЬ САМИМ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4475378" y="4814317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Опись, фото, объявления, </a:t>
            </a:r>
            <a:r>
              <a:rPr lang="en-US" dirty="0" err="1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звонки</a:t>
            </a:r>
            <a:r>
              <a:rPr lang="en-US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r>
              <a:rPr lang="ru-RU" dirty="0">
                <a:solidFill>
                  <a:srgbClr val="F7F1E7"/>
                </a:solidFill>
              </a:rPr>
              <a:t> </a:t>
            </a:r>
            <a:r>
              <a:rPr lang="ru-RU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</a:t>
            </a:r>
            <a:r>
              <a:rPr lang="en-US" dirty="0" err="1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оказы</a:t>
            </a:r>
            <a:r>
              <a:rPr lang="ru-RU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</a:t>
            </a:r>
          </a:p>
        </p:txBody>
      </p:sp>
      <p:sp>
        <p:nvSpPr>
          <p:cNvPr id="11" name="Shape 7"/>
          <p:cNvSpPr/>
          <p:nvPr/>
        </p:nvSpPr>
        <p:spPr>
          <a:xfrm>
            <a:off x="8054645" y="1700784"/>
            <a:ext cx="3478682" cy="3767328"/>
          </a:xfrm>
          <a:prstGeom prst="roundRect">
            <a:avLst>
              <a:gd name="adj" fmla="val 1577"/>
            </a:avLst>
          </a:prstGeom>
          <a:solidFill>
            <a:srgbClr val="1A2F3B">
              <a:alpha val="70000"/>
            </a:srgbClr>
          </a:solidFill>
          <a:ln w="15875">
            <a:solidFill>
              <a:srgbClr val="C89B4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2" descr="/home/user/mysteryslavic-2026-07-19_16-47-00/presentations/office-client/assets/ill-n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986" y="1847088"/>
            <a:ext cx="2286000" cy="22860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73517" y="4315968"/>
            <a:ext cx="324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2200" b="1" kern="0" spc="8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ПЕРЕДАТЬ</a:t>
            </a:r>
            <a:r>
              <a:rPr lang="en-US" sz="2200" b="1" kern="0" spc="8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НАМ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8173517" y="4814317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Помещение пустое к дате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buNone/>
            </a:pPr>
            <a:r>
              <a:rPr lang="ru-RU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r>
              <a:rPr lang="en-US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деньги </a:t>
            </a:r>
            <a:r>
              <a:rPr lang="en-US" dirty="0" err="1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</a:t>
            </a:r>
            <a:r>
              <a:rPr lang="en-US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</a:t>
            </a:r>
            <a:r>
              <a:rPr lang="ru-RU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</a:t>
            </a:r>
            <a:r>
              <a:rPr lang="en-US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ликвидное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77240" y="5989320"/>
            <a:ext cx="10756087" cy="484631"/>
          </a:xfrm>
          <a:prstGeom prst="roundRect">
            <a:avLst>
              <a:gd name="adj" fmla="val 8333"/>
            </a:avLst>
          </a:prstGeom>
          <a:solidFill>
            <a:srgbClr val="1A2F3B"/>
          </a:solidFill>
          <a:ln w="12700">
            <a:solidFill>
              <a:srgbClr val="6E54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1"/>
          <p:cNvSpPr txBox="1"/>
          <p:nvPr/>
        </p:nvSpPr>
        <p:spPr>
          <a:xfrm>
            <a:off x="235375" y="6126480"/>
            <a:ext cx="1172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ru-RU" sz="2000" b="1" kern="0" spc="12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БЕСПЛАТНО РАССЧИТАЕМ</a:t>
            </a:r>
            <a:r>
              <a:rPr lang="en-US" sz="2000" b="1" kern="0" spc="12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2000" b="1" kern="0" spc="12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СТОИМОСТНЫЕ И ВРЕМЕННЫЕ ЗАТРАТЫ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· ОФИС 300 м², 25 РАБОЧИХ МЕСТ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ПУТИ </a:t>
            </a:r>
            <a:r>
              <a:rPr lang="ru-RU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r>
              <a:rPr lang="en-US" sz="3600" b="1" dirty="0" err="1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</a:t>
            </a:r>
            <a:r>
              <a:rPr lang="en-US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ДЕНЬГАХ </a:t>
            </a:r>
            <a:r>
              <a:rPr lang="en-US" sz="3600" b="1" dirty="0" err="1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</a:t>
            </a:r>
            <a:r>
              <a:rPr lang="en-US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ЧАСАХ</a:t>
            </a:r>
            <a:r>
              <a:rPr lang="ru-RU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66751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088136" y="164592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ЛИКВИДНОЕ ИМУЩЕСТВО ПО ОЦЕНКЕ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257800" y="16459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9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r>
              <a:rPr lang="en-US" sz="19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0 000 ₽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2395728"/>
            <a:ext cx="33628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53470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55806" y="2651760"/>
            <a:ext cx="2192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4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ВЫБРОСИТЬ ВСЁ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3145536"/>
            <a:ext cx="25947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</a:t>
            </a:r>
            <a:r>
              <a:rPr lang="ru-RU" sz="3100" b="1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r>
              <a:rPr lang="en-US" sz="3100" b="1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000 ₽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1161288" y="3785616"/>
            <a:ext cx="2594762" cy="10973"/>
          </a:xfrm>
          <a:prstGeom prst="rect">
            <a:avLst/>
          </a:prstGeom>
          <a:solidFill>
            <a:srgbClr val="DCD3C4"/>
          </a:solidFill>
          <a:ln/>
        </p:spPr>
        <p:txBody>
          <a:bodyPr/>
          <a:lstStyle/>
          <a:p>
            <a:endParaRPr sz="3200"/>
          </a:p>
        </p:txBody>
      </p:sp>
      <p:sp>
        <p:nvSpPr>
          <p:cNvPr id="12" name="Text 10"/>
          <p:cNvSpPr txBox="1"/>
          <p:nvPr/>
        </p:nvSpPr>
        <p:spPr>
          <a:xfrm>
            <a:off x="1161288" y="3986784"/>
            <a:ext cx="2594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16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ВАШЕ ВРЕМЯ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54638" y="4351437"/>
            <a:ext cx="2594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</a:t>
            </a:r>
            <a:r>
              <a:rPr lang="ru-RU" sz="28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часа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4956048"/>
            <a:ext cx="259476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ru-RU" sz="14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 свободен к сроку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14418" y="2395728"/>
            <a:ext cx="33628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590648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992984" y="2651760"/>
            <a:ext cx="2192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4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ПРОДАТЬ САМИМ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798466" y="3145536"/>
            <a:ext cx="25947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</a:t>
            </a:r>
            <a:r>
              <a:rPr lang="ru-RU" sz="31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165</a:t>
            </a:r>
            <a:r>
              <a:rPr lang="en-US" sz="31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000 ₽</a:t>
            </a:r>
            <a:endParaRPr lang="en-US" sz="3100" dirty="0"/>
          </a:p>
        </p:txBody>
      </p:sp>
      <p:sp>
        <p:nvSpPr>
          <p:cNvPr id="19" name="Shape 17"/>
          <p:cNvSpPr/>
          <p:nvPr/>
        </p:nvSpPr>
        <p:spPr>
          <a:xfrm>
            <a:off x="4798466" y="3785616"/>
            <a:ext cx="2594762" cy="10973"/>
          </a:xfrm>
          <a:prstGeom prst="rect">
            <a:avLst/>
          </a:prstGeom>
          <a:solidFill>
            <a:srgbClr val="DCD3C4"/>
          </a:solidFill>
          <a:ln/>
        </p:spPr>
        <p:txBody>
          <a:bodyPr/>
          <a:lstStyle/>
          <a:p>
            <a:endParaRPr sz="3200"/>
          </a:p>
        </p:txBody>
      </p:sp>
      <p:sp>
        <p:nvSpPr>
          <p:cNvPr id="20" name="Text 18"/>
          <p:cNvSpPr txBox="1"/>
          <p:nvPr/>
        </p:nvSpPr>
        <p:spPr>
          <a:xfrm>
            <a:off x="4798466" y="3986784"/>
            <a:ext cx="2594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16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ВАШЕ ВРЕМЯ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91816" y="4351437"/>
            <a:ext cx="2594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</a:t>
            </a:r>
            <a:r>
              <a:rPr lang="ru-RU" sz="2800" b="1" u="sng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r>
              <a:rPr lang="en-US" sz="2800" b="1" u="sng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en-US" sz="28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часов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4798466" y="4956048"/>
            <a:ext cx="259476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ru-RU" sz="14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Удобно, если нет дедлайна и есть свободные руки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51597" y="2395728"/>
            <a:ext cx="3362858" cy="3200400"/>
          </a:xfrm>
          <a:prstGeom prst="roundRect">
            <a:avLst>
              <a:gd name="adj" fmla="val 1429"/>
            </a:avLst>
          </a:prstGeom>
          <a:solidFill>
            <a:srgbClr val="0C1D28"/>
          </a:solidFill>
          <a:ln w="12700">
            <a:solidFill>
              <a:srgbClr val="0C1D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8227827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630163" y="2651760"/>
            <a:ext cx="2192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00" b="1" kern="0" spc="1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ПЕРЕДАТЬ</a:t>
            </a:r>
            <a:r>
              <a:rPr lang="en-US" sz="1600" b="1" kern="0" spc="1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НАМ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435645" y="3145536"/>
            <a:ext cx="25947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</a:t>
            </a:r>
            <a:r>
              <a:rPr lang="ru-RU" sz="31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140</a:t>
            </a:r>
            <a:r>
              <a:rPr lang="en-US" sz="31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000 ₽</a:t>
            </a:r>
            <a:endParaRPr lang="en-US" sz="3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435645" y="3785616"/>
            <a:ext cx="2594762" cy="10973"/>
          </a:xfrm>
          <a:prstGeom prst="rect">
            <a:avLst/>
          </a:prstGeom>
          <a:solidFill>
            <a:srgbClr val="6E5426"/>
          </a:solidFill>
          <a:ln/>
        </p:spPr>
        <p:txBody>
          <a:bodyPr/>
          <a:lstStyle/>
          <a:p>
            <a:endParaRPr sz="3200"/>
          </a:p>
        </p:txBody>
      </p:sp>
      <p:sp>
        <p:nvSpPr>
          <p:cNvPr id="28" name="Text 26"/>
          <p:cNvSpPr txBox="1"/>
          <p:nvPr/>
        </p:nvSpPr>
        <p:spPr>
          <a:xfrm>
            <a:off x="8435645" y="3986784"/>
            <a:ext cx="2594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16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ВАШЕ ВРЕМЯ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428995" y="4351437"/>
            <a:ext cx="2594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8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</a:rPr>
              <a:t>1 час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8435645" y="4956048"/>
            <a:ext cx="259476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4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420 000 ₽ − услуга 172 000 ₽</a:t>
            </a:r>
            <a:endParaRPr lang="en-US" sz="14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4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(25 000 ₽ + 35%)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777240" y="9326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ЭТО РАБОТАЕТ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760494" y="3035808"/>
            <a:ext cx="8670707" cy="10973"/>
          </a:xfrm>
          <a:prstGeom prst="rect">
            <a:avLst/>
          </a:prstGeom>
          <a:solidFill>
            <a:srgbClr val="DCD3C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339870" y="2615184"/>
            <a:ext cx="841248" cy="841248"/>
          </a:xfrm>
          <a:prstGeom prst="ellipse">
            <a:avLst/>
          </a:prstGeom>
          <a:solidFill>
            <a:srgbClr val="F7F1E7"/>
          </a:solidFill>
          <a:ln w="17780">
            <a:solidFill>
              <a:srgbClr val="C89B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777240" y="3694176"/>
            <a:ext cx="19665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kern="0" spc="16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95745" y="4151376"/>
            <a:ext cx="23491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ru-RU" sz="1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СООБЩАЕТЕ</a:t>
            </a:r>
          </a:p>
          <a:p>
            <a:pPr marL="0" indent="0" algn="ctr">
              <a:lnSpc>
                <a:spcPts val="1900"/>
              </a:lnSpc>
              <a:buNone/>
            </a:pPr>
            <a:r>
              <a:rPr lang="ru-RU" sz="1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</a:rPr>
              <a:t>что нужно продать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507547" y="2615184"/>
            <a:ext cx="841248" cy="841248"/>
          </a:xfrm>
          <a:prstGeom prst="ellipse">
            <a:avLst/>
          </a:prstGeom>
          <a:solidFill>
            <a:srgbClr val="F7F1E7"/>
          </a:solidFill>
          <a:ln w="17780">
            <a:solidFill>
              <a:srgbClr val="C89B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 txBox="1"/>
          <p:nvPr/>
        </p:nvSpPr>
        <p:spPr>
          <a:xfrm>
            <a:off x="2944917" y="3694176"/>
            <a:ext cx="19665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kern="0" spc="16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2944916" y="4151376"/>
            <a:ext cx="19665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СЧИТАЕМ</a:t>
            </a:r>
            <a:endParaRPr lang="ru-RU" sz="1600" b="1" dirty="0">
              <a:solidFill>
                <a:srgbClr val="0C1D2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ctr">
              <a:lnSpc>
                <a:spcPts val="1900"/>
              </a:lnSpc>
              <a:buNone/>
            </a:pPr>
            <a:r>
              <a:rPr lang="ru-RU" sz="1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</a:rPr>
              <a:t>сколько выручим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675224" y="2615184"/>
            <a:ext cx="841248" cy="841248"/>
          </a:xfrm>
          <a:prstGeom prst="ellipse">
            <a:avLst/>
          </a:prstGeom>
          <a:solidFill>
            <a:srgbClr val="F7F1E7"/>
          </a:solidFill>
          <a:ln w="17780">
            <a:solidFill>
              <a:srgbClr val="C89B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2"/>
          <p:cNvSpPr txBox="1"/>
          <p:nvPr/>
        </p:nvSpPr>
        <p:spPr>
          <a:xfrm>
            <a:off x="5112593" y="3694176"/>
            <a:ext cx="19665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kern="0" spc="16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5112592" y="4151376"/>
            <a:ext cx="19665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ПОДПИСЫВАЕМ</a:t>
            </a:r>
            <a:endParaRPr lang="ru-RU" sz="1600" b="1" dirty="0">
              <a:solidFill>
                <a:srgbClr val="0C1D2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ctr">
              <a:lnSpc>
                <a:spcPts val="1900"/>
              </a:lnSpc>
              <a:buNone/>
            </a:pPr>
            <a:r>
              <a:rPr lang="ru-RU" sz="1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</a:rPr>
              <a:t>договор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842900" y="2615184"/>
            <a:ext cx="841248" cy="841248"/>
          </a:xfrm>
          <a:prstGeom prst="ellipse">
            <a:avLst/>
          </a:prstGeom>
          <a:solidFill>
            <a:srgbClr val="F7F1E7"/>
          </a:solidFill>
          <a:ln w="17780">
            <a:solidFill>
              <a:srgbClr val="C89B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6"/>
          <p:cNvSpPr txBox="1"/>
          <p:nvPr/>
        </p:nvSpPr>
        <p:spPr>
          <a:xfrm>
            <a:off x="7280270" y="3694176"/>
            <a:ext cx="19665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kern="0" spc="16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280269" y="4151376"/>
            <a:ext cx="19665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ПРОДАЁМ</a:t>
            </a:r>
            <a:endParaRPr lang="ru-RU" sz="1600" b="1" dirty="0">
              <a:solidFill>
                <a:srgbClr val="0C1D2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ctr">
              <a:lnSpc>
                <a:spcPts val="1900"/>
              </a:lnSpc>
              <a:buNone/>
            </a:pPr>
            <a:r>
              <a:rPr lang="ru-RU" sz="1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</a:rPr>
              <a:t>вещи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10010577" y="2615184"/>
            <a:ext cx="841248" cy="841248"/>
          </a:xfrm>
          <a:prstGeom prst="ellipse">
            <a:avLst/>
          </a:prstGeom>
          <a:solidFill>
            <a:srgbClr val="F7F1E7"/>
          </a:solidFill>
          <a:ln w="17780">
            <a:solidFill>
              <a:srgbClr val="C89B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0"/>
          <p:cNvSpPr txBox="1"/>
          <p:nvPr/>
        </p:nvSpPr>
        <p:spPr>
          <a:xfrm>
            <a:off x="9447947" y="3694176"/>
            <a:ext cx="19665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kern="0" spc="16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1"/>
          <p:cNvSpPr txBox="1"/>
          <p:nvPr/>
        </p:nvSpPr>
        <p:spPr>
          <a:xfrm>
            <a:off x="9447946" y="4151376"/>
            <a:ext cx="19665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ОТЧИТЫВАЕМСЯ</a:t>
            </a:r>
            <a:endParaRPr lang="ru-RU" sz="1600" b="1" dirty="0">
              <a:solidFill>
                <a:srgbClr val="0C1D2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ctr">
              <a:lnSpc>
                <a:spcPts val="1900"/>
              </a:lnSpc>
              <a:buNone/>
            </a:pPr>
            <a:r>
              <a:rPr lang="ru-RU" sz="1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</a:rPr>
              <a:t>и делим прибыль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777240" y="5797296"/>
            <a:ext cx="10637215" cy="713232"/>
          </a:xfrm>
          <a:prstGeom prst="roundRect">
            <a:avLst>
              <a:gd name="adj" fmla="val 7692"/>
            </a:avLst>
          </a:prstGeom>
          <a:solidFill>
            <a:srgbClr val="0C1D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4"/>
          <p:cNvSpPr txBox="1"/>
          <p:nvPr/>
        </p:nvSpPr>
        <p:spPr>
          <a:xfrm>
            <a:off x="777240" y="5797296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6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ВАШЕ УЧАСТИЕ </a:t>
            </a:r>
            <a:r>
              <a:rPr lang="ru-RU" sz="1700" b="1" kern="0" spc="16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r>
              <a:rPr lang="en-US" sz="1700" b="1" kern="0" spc="16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700" b="1" kern="0" spc="16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 </a:t>
            </a:r>
            <a:r>
              <a:rPr lang="en-US" sz="1700" b="1" kern="0" spc="16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МИНУТ ЗА ВЕСЬ ПРОЕКТ</a:t>
            </a:r>
            <a:endParaRPr lang="en-US" sz="1700" dirty="0"/>
          </a:p>
        </p:txBody>
      </p:sp>
      <p:pic>
        <p:nvPicPr>
          <p:cNvPr id="32" name="Picture 31" descr="ic-messagesqu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898" y="2839212"/>
            <a:ext cx="393192" cy="393192"/>
          </a:xfrm>
          <a:prstGeom prst="rect">
            <a:avLst/>
          </a:prstGeom>
        </p:spPr>
      </p:pic>
      <p:pic>
        <p:nvPicPr>
          <p:cNvPr id="33" name="Picture 32" descr="ic-barchar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1575" y="2839212"/>
            <a:ext cx="393192" cy="393192"/>
          </a:xfrm>
          <a:prstGeom prst="rect">
            <a:avLst/>
          </a:prstGeom>
        </p:spPr>
      </p:pic>
      <p:pic>
        <p:nvPicPr>
          <p:cNvPr id="34" name="Picture 33" descr="ic-edit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9252" y="2839212"/>
            <a:ext cx="393192" cy="393192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6928" y="2839212"/>
            <a:ext cx="393192" cy="393192"/>
          </a:xfrm>
          <a:prstGeom prst="rect">
            <a:avLst/>
          </a:prstGeom>
        </p:spPr>
      </p:pic>
      <p:pic>
        <p:nvPicPr>
          <p:cNvPr id="36" name="Picture 35" descr="ic-pie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4605" y="2839212"/>
            <a:ext cx="393192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28">
              <a:alpha val="8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77240" y="548640"/>
            <a:ext cx="106372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СТОИМОСТЬ УСЛУГИ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543404" y="15361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4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 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2048256"/>
            <a:ext cx="5167732" cy="3703320"/>
          </a:xfrm>
          <a:prstGeom prst="roundRect">
            <a:avLst>
              <a:gd name="adj" fmla="val 1235"/>
            </a:avLst>
          </a:prstGeom>
          <a:solidFill>
            <a:srgbClr val="1A2F3B">
              <a:alpha val="55000"/>
            </a:srgbClr>
          </a:solidFill>
          <a:ln w="12700">
            <a:solidFill>
              <a:srgbClr val="6E5426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pic>
        <p:nvPicPr>
          <p:cNvPr id="7" name="Image 0" descr="/home/user/mysteryslavic-2026-07-19_16-47-00/presentations/office-client/assets/ic-shopping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432304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523744"/>
            <a:ext cx="3796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МАКСИМАЛЬНОЙ ВЫРУЧКИ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3017520"/>
            <a:ext cx="43447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ПРОДАЖА ИЗ ОФИСА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3767328"/>
            <a:ext cx="43447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10 000 ₽ + 25%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3003666" y="4261104"/>
            <a:ext cx="4344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суммы продаж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188720" y="4663440"/>
            <a:ext cx="4344772" cy="10973"/>
          </a:xfrm>
          <a:prstGeom prst="rect">
            <a:avLst/>
          </a:prstGeom>
          <a:solidFill>
            <a:srgbClr val="6E5426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3" name="Shape 10"/>
          <p:cNvSpPr/>
          <p:nvPr/>
        </p:nvSpPr>
        <p:spPr>
          <a:xfrm>
            <a:off x="1207008" y="4910328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4" name="Text 11"/>
          <p:cNvSpPr txBox="1"/>
          <p:nvPr/>
        </p:nvSpPr>
        <p:spPr>
          <a:xfrm>
            <a:off x="1435608" y="4837176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Вещи остаются в офисе до продажи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207008" y="5212080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6" name="Text 13"/>
          <p:cNvSpPr txBox="1"/>
          <p:nvPr/>
        </p:nvSpPr>
        <p:spPr>
          <a:xfrm>
            <a:off x="1435608" y="5138928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</a:t>
            </a:r>
            <a:r>
              <a:rPr lang="ru-RU" sz="14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</a:t>
            </a:r>
            <a:r>
              <a:rPr lang="en-US" sz="1400" dirty="0" err="1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</a:t>
            </a:r>
            <a:r>
              <a:rPr lang="en-US" sz="14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дольше</a:t>
            </a:r>
            <a:r>
              <a:rPr lang="ru-RU" sz="14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r>
              <a:rPr lang="en-US" sz="14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выручаем больше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46724" y="2048256"/>
            <a:ext cx="5167732" cy="3703320"/>
          </a:xfrm>
          <a:prstGeom prst="roundRect">
            <a:avLst>
              <a:gd name="adj" fmla="val 1235"/>
            </a:avLst>
          </a:prstGeom>
          <a:solidFill>
            <a:srgbClr val="1A2F3B">
              <a:alpha val="85000"/>
            </a:srgbClr>
          </a:solidFill>
          <a:ln w="12700">
            <a:solidFill>
              <a:srgbClr val="6E5426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pic>
        <p:nvPicPr>
          <p:cNvPr id="20" name="Image 1" descr="/home/user/mysteryslavic-2026-07-19_16-47-00/presentations/office-client/assets/ic-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204" y="2432304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206844" y="2523744"/>
            <a:ext cx="3796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БЫСТРОГО ОСВОБОЖДЕНИЯ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562192" y="3017520"/>
            <a:ext cx="47562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ОСВОБОЖДЕНИЕ ПОД КЛЮЧ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6658204" y="3767328"/>
            <a:ext cx="43447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25 000 ₽ + 35%</a:t>
            </a:r>
            <a:endParaRPr lang="en-US" sz="3200" dirty="0"/>
          </a:p>
        </p:txBody>
      </p:sp>
      <p:sp>
        <p:nvSpPr>
          <p:cNvPr id="24" name="Text 20"/>
          <p:cNvSpPr txBox="1"/>
          <p:nvPr/>
        </p:nvSpPr>
        <p:spPr>
          <a:xfrm>
            <a:off x="8624163" y="4287012"/>
            <a:ext cx="4344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суммы продаж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658204" y="4663440"/>
            <a:ext cx="4344772" cy="10973"/>
          </a:xfrm>
          <a:prstGeom prst="rect">
            <a:avLst/>
          </a:prstGeom>
          <a:solidFill>
            <a:srgbClr val="6E5426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26" name="Shape 22"/>
          <p:cNvSpPr/>
          <p:nvPr/>
        </p:nvSpPr>
        <p:spPr>
          <a:xfrm>
            <a:off x="6676492" y="4910328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27" name="Text 23"/>
          <p:cNvSpPr txBox="1"/>
          <p:nvPr/>
        </p:nvSpPr>
        <p:spPr>
          <a:xfrm>
            <a:off x="6905092" y="4837176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Помещение свободно к вашей дате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676492" y="5212080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29" name="Text 25"/>
          <p:cNvSpPr txBox="1"/>
          <p:nvPr/>
        </p:nvSpPr>
        <p:spPr>
          <a:xfrm>
            <a:off x="6905092" y="5138928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</a:t>
            </a:r>
            <a:r>
              <a:rPr lang="ru-RU" sz="14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</a:t>
            </a:r>
            <a:r>
              <a:rPr lang="en-US" sz="1400" dirty="0" err="1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</a:t>
            </a:r>
            <a:r>
              <a:rPr lang="en-US" sz="14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</a:t>
            </a:r>
            <a:r>
              <a:rPr lang="en-US" sz="14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вашего участия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777240" y="608990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16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ДЕНЬГИ ЗА ИМУЩЕСТВО ПРИХОДЯТ НАПРЯМУЮ ВАШЕЙ КОМПАНИИ</a:t>
            </a:r>
            <a:endParaRPr lang="en-US" sz="14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C4209B80-25C9-8E40-81BA-09E1DDB95125}"/>
              </a:ext>
            </a:extLst>
          </p:cNvPr>
          <p:cNvSpPr txBox="1"/>
          <p:nvPr/>
        </p:nvSpPr>
        <p:spPr>
          <a:xfrm>
            <a:off x="8012888" y="1536191"/>
            <a:ext cx="3537356" cy="35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4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 2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94944" y="932687"/>
            <a:ext cx="5212080" cy="3072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Сами продаем</a:t>
            </a:r>
          </a:p>
          <a:p>
            <a:endParaRPr lang="ru-RU" sz="4800" b="1" dirty="0">
              <a:solidFill>
                <a:schemeClr val="tx1">
                  <a:lumMod val="95000"/>
                  <a:lumOff val="5000"/>
                </a:schemeClr>
              </a:solidFill>
              <a:latin typeface="Inter" pitchFamily="34" charset="0"/>
              <a:ea typeface="Inter" pitchFamily="34" charset="-122"/>
            </a:endParaRPr>
          </a:p>
          <a:p>
            <a:r>
              <a:rPr lang="ru-RU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ter" pitchFamily="34" charset="0"/>
                <a:ea typeface="Inter" pitchFamily="34" charset="-122"/>
              </a:rPr>
              <a:t>Если нужно – вывезем сразу</a:t>
            </a:r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60218" y="4462272"/>
            <a:ext cx="5629102" cy="1216152"/>
          </a:xfrm>
          <a:prstGeom prst="roundRect">
            <a:avLst>
              <a:gd name="adj" fmla="val 4839"/>
            </a:avLst>
          </a:prstGeom>
          <a:solidFill>
            <a:srgbClr val="0C1D28"/>
          </a:solidFill>
          <a:ln/>
        </p:spPr>
      </p:sp>
      <p:pic>
        <p:nvPicPr>
          <p:cNvPr id="6" name="Image 0" descr="/home/user/mysteryslavic-2026-07-19_16-47-00/presentations/office-client/assets/ic-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47" y="4660946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64336" y="4590288"/>
            <a:ext cx="44329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ПО ИТОГУ – </a:t>
            </a:r>
          </a:p>
          <a:p>
            <a:r>
              <a:rPr lang="ru-RU" sz="3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ОТЧЕТ О ПРОДАЖАХ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6492240" y="777240"/>
            <a:ext cx="4919472" cy="5303520"/>
          </a:xfrm>
          <a:prstGeom prst="roundRect">
            <a:avLst>
              <a:gd name="adj" fmla="val 929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76288" y="10972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КАРТОЧКА ПОЗИЦИИ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204704" y="105156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EFE7D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204704" y="11064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6876288" y="3675887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Кресло эргономичное, сетка · 17 шт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876288" y="4096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Зона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887968" y="409651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space · Z02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876288" y="4398264"/>
            <a:ext cx="4151376" cy="9144"/>
          </a:xfrm>
          <a:prstGeom prst="rect">
            <a:avLst/>
          </a:prstGeom>
          <a:solidFill>
            <a:srgbClr val="EFE7D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76288" y="4462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Состояние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8887968" y="446227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Хорошее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876288" y="4764024"/>
            <a:ext cx="4151376" cy="9144"/>
          </a:xfrm>
          <a:prstGeom prst="rect">
            <a:avLst/>
          </a:prstGeom>
          <a:solidFill>
            <a:srgbClr val="EFE7D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876288" y="4828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Стартовая цена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8887968" y="482803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6 500 ₽ / шт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876288" y="5129784"/>
            <a:ext cx="4151376" cy="9144"/>
          </a:xfrm>
          <a:prstGeom prst="rect">
            <a:avLst/>
          </a:prstGeom>
          <a:solidFill>
            <a:srgbClr val="EFE7D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876288" y="5193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Минимальная цена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8887968" y="519379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4 000 ₽ / шт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876288" y="5495544"/>
            <a:ext cx="4151376" cy="9144"/>
          </a:xfrm>
          <a:prstGeom prst="rect">
            <a:avLst/>
          </a:prstGeom>
          <a:solidFill>
            <a:srgbClr val="EFE7DA"/>
          </a:solidFill>
          <a:ln/>
        </p:spPr>
      </p:sp>
      <p:sp>
        <p:nvSpPr>
          <p:cNvPr id="27" name="Shape 23"/>
          <p:cNvSpPr/>
          <p:nvPr/>
        </p:nvSpPr>
        <p:spPr>
          <a:xfrm>
            <a:off x="6876288" y="5614416"/>
            <a:ext cx="1517904" cy="329184"/>
          </a:xfrm>
          <a:prstGeom prst="roundRect">
            <a:avLst>
              <a:gd name="adj" fmla="val 13889"/>
            </a:avLst>
          </a:prstGeom>
          <a:solidFill>
            <a:srgbClr val="0C1D28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876288" y="567842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ПРОДАЖЕ</a:t>
            </a:r>
            <a:endParaRPr lang="en-US" sz="1050" dirty="0"/>
          </a:p>
        </p:txBody>
      </p:sp>
      <p:pic>
        <p:nvPicPr>
          <p:cNvPr id="29" name="Picture 28" descr="ph-P8-chai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1517904"/>
            <a:ext cx="4151376" cy="2031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КОРПОРАТИВНЫЙ КОНТУР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ВЫЕЗД И ДОКУМЕНТЫ БЕЗ СЮРПРИЗОВ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883664"/>
            <a:ext cx="5167732" cy="3529584"/>
          </a:xfrm>
          <a:prstGeom prst="roundRect">
            <a:avLst>
              <a:gd name="adj" fmla="val 1295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</p:sp>
      <p:pic>
        <p:nvPicPr>
          <p:cNvPr id="5" name="Image 0" descr="/home/user/mysteryslavic-2026-07-19_16-47-00/presentations/office-client/assets/ic-briefcase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2677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64792" y="2340864"/>
            <a:ext cx="379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kern="0" spc="8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ВЫЕЗД ПО ПРАВИЛАМ БЦ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1188720" y="2944368"/>
            <a:ext cx="4344772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8" name="Shape 5"/>
          <p:cNvSpPr/>
          <p:nvPr/>
        </p:nvSpPr>
        <p:spPr>
          <a:xfrm>
            <a:off x="1207008" y="3282696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72184" y="3182112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согласование дня и времени вывоза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207008" y="3721608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72184" y="3621024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пропуска и материальные пропуска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207008" y="4160520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472184" y="4059936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грузовой лифт и маршрут движения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207008" y="4599432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472184" y="4498848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лифтов, стен и пола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207008" y="5038344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472184" y="4937760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уборка помещения после вывоза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46724" y="1883664"/>
            <a:ext cx="5167732" cy="3529584"/>
          </a:xfrm>
          <a:prstGeom prst="roundRect">
            <a:avLst>
              <a:gd name="adj" fmla="val 1295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</p:sp>
      <p:pic>
        <p:nvPicPr>
          <p:cNvPr id="19" name="Image 1" descr="/home/user/mysteryslavic-2026-07-19_16-47-00/presentations/office-client/assets/ic-folder-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204" y="2267712"/>
            <a:ext cx="402336" cy="40233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34276" y="2340864"/>
            <a:ext cx="379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kern="0" spc="8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ДОКУМЕНТЫ ДЛЯ БУХГАЛТЕРИИ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6658204" y="2944368"/>
            <a:ext cx="4344772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22" name="Shape 18"/>
          <p:cNvSpPr/>
          <p:nvPr/>
        </p:nvSpPr>
        <p:spPr>
          <a:xfrm>
            <a:off x="6676492" y="3282696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941668" y="3182112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реестр имущества с маршрутом каждой позиции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676492" y="3721608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941668" y="3621024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кому и за сколько продано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676492" y="4160520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941668" y="4059936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акты на вывоз и утилизацию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676492" y="4599432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1668" y="4498848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итоговый отчёт по проекту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77240" y="5669280"/>
            <a:ext cx="10637215" cy="658368"/>
          </a:xfrm>
          <a:prstGeom prst="roundRect">
            <a:avLst>
              <a:gd name="adj" fmla="val 8333"/>
            </a:avLst>
          </a:prstGeom>
          <a:solidFill>
            <a:srgbClr val="0C1D28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77240" y="58704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14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СОБСТВЕННИК ИМУЩЕСТВА — ВАША КОМПАНИЯ. МЫ ПОЛУЧАЕМ ОПЛАТУ ЗА УСЛУГУ.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steryslavic-2026-07-19_16-47-00/presentations/office-client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17320" y="4754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ПРОДАЙ ЗА МЕНЯ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417320" y="7132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Освобождение офиса под ключ · Казань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572768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ПРИШЛИТЕ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ru-RU" sz="4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ФОТО</a:t>
            </a:r>
            <a:r>
              <a:rPr lang="en-US" sz="4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ОФИСА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77240" y="3346704"/>
            <a:ext cx="1371600" cy="32004"/>
          </a:xfrm>
          <a:prstGeom prst="rect">
            <a:avLst/>
          </a:prstGeom>
          <a:solidFill>
            <a:srgbClr val="C89B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777240" y="363931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БЕСПЛАТНО ОЦЕНИМ,</a:t>
            </a:r>
            <a:endParaRPr lang="en-US" sz="19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МОЖНО ВЕРНУТЬ ДЕНЬГАМИ</a:t>
            </a:r>
            <a:endParaRPr lang="en-US" sz="1900" dirty="0"/>
          </a:p>
        </p:txBody>
      </p:sp>
      <p:pic>
        <p:nvPicPr>
          <p:cNvPr id="8" name="Image 1" descr="/home/user/mysteryslavic-2026-07-19_16-47-00/presentations/office-client/assets/ic-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74336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07592" y="49560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+7 917 896-84-83</a:t>
            </a:r>
            <a:endParaRPr lang="en-US" sz="1900" dirty="0"/>
          </a:p>
        </p:txBody>
      </p:sp>
      <p:pic>
        <p:nvPicPr>
          <p:cNvPr id="10" name="Image 2" descr="/home/user/mysteryslavic-2026-07-19_16-47-00/presentations/office-client/assets/ic-m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63270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07592" y="5623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proday_za_menya@mail.ru</a:t>
            </a:r>
            <a:endParaRPr lang="en-US" sz="1700" dirty="0"/>
          </a:p>
        </p:txBody>
      </p:sp>
      <p:sp>
        <p:nvSpPr>
          <p:cNvPr id="12" name="Rounded Rectangle 11"/>
          <p:cNvSpPr/>
          <p:nvPr/>
        </p:nvSpPr>
        <p:spPr>
          <a:xfrm>
            <a:off x="6355080" y="2450592"/>
            <a:ext cx="1600200" cy="2670048"/>
          </a:xfrm>
          <a:prstGeom prst="roundRect">
            <a:avLst>
              <a:gd name="adj" fmla="val 6000"/>
            </a:avLst>
          </a:prstGeom>
          <a:solidFill>
            <a:srgbClr val="0C1D28"/>
          </a:solidFill>
          <a:ln w="12700">
            <a:solidFill>
              <a:srgbClr val="6E5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9732" y="2651760"/>
            <a:ext cx="310896" cy="3108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505956" y="3127248"/>
            <a:ext cx="1298448" cy="1298448"/>
          </a:xfrm>
          <a:prstGeom prst="roundRect">
            <a:avLst>
              <a:gd name="adj" fmla="val 5000"/>
            </a:avLst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3388" y="3154680"/>
            <a:ext cx="1243584" cy="1243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55080" y="4626864"/>
            <a:ext cx="1600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9BC7A"/>
                </a:solidFill>
                <a:latin typeface="Inter"/>
              </a:rPr>
              <a:t>TELEGRAM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2450592"/>
            <a:ext cx="1600200" cy="2670048"/>
          </a:xfrm>
          <a:prstGeom prst="roundRect">
            <a:avLst>
              <a:gd name="adj" fmla="val 6000"/>
            </a:avLst>
          </a:prstGeom>
          <a:solidFill>
            <a:srgbClr val="0C1D28"/>
          </a:solidFill>
          <a:ln w="12700">
            <a:solidFill>
              <a:srgbClr val="6E5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Picture 17" descr="ic-messagesqua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7948" y="2651760"/>
            <a:ext cx="310896" cy="31089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234171" y="3127248"/>
            <a:ext cx="1298448" cy="1298448"/>
          </a:xfrm>
          <a:prstGeom prst="roundRect">
            <a:avLst>
              <a:gd name="adj" fmla="val 5000"/>
            </a:avLst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83296" y="4626864"/>
            <a:ext cx="1600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9BC7A"/>
                </a:solidFill>
                <a:latin typeface="Inter"/>
              </a:rPr>
              <a:t>MAX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11512" y="2450592"/>
            <a:ext cx="1600200" cy="2670048"/>
          </a:xfrm>
          <a:prstGeom prst="roundRect">
            <a:avLst>
              <a:gd name="adj" fmla="val 6000"/>
            </a:avLst>
          </a:prstGeom>
          <a:solidFill>
            <a:srgbClr val="0C1D28"/>
          </a:solidFill>
          <a:ln w="12700">
            <a:solidFill>
              <a:srgbClr val="6E5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56164" y="2651760"/>
            <a:ext cx="310896" cy="31089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962388" y="3127248"/>
            <a:ext cx="1298448" cy="1298448"/>
          </a:xfrm>
          <a:prstGeom prst="roundRect">
            <a:avLst>
              <a:gd name="adj" fmla="val 5000"/>
            </a:avLst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Picture 24" descr="qr-whatsap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89820" y="3154680"/>
            <a:ext cx="1243584" cy="12435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11512" y="4626864"/>
            <a:ext cx="1600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9BC7A"/>
                </a:solidFill>
                <a:latin typeface="Inter"/>
              </a:rPr>
              <a:t>WHATSAPP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155DED1-3FE9-987B-0514-3A6D29B34D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9317" y="3157728"/>
            <a:ext cx="1248156" cy="1248156"/>
          </a:xfrm>
          <a:prstGeom prst="round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1206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ОБЫЧНО СПРАШИВАЮТ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ЧАСТЫЕ ВОПРОСЫ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322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1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2286000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с непроданным?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307592" y="2944368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Финальный маршрут согласуем заранее: передача, вторсырьё или утилизация.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39" y="4026657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93028" y="2322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1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923380" y="2286000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 данные на технике?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923380" y="2944368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Учётки отвязываем, накопители стираем или изымаем до передачи.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393027" y="4026657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39" y="4645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1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07591" y="4608576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Имущество на балансе или в лизинге?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307591" y="5451652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Сначала разложим, чем компания вправе распоряжаться, и только потом публикуем.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7239" y="6454943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93027" y="4645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1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923379" y="4608576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оформляется оплата?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923379" y="5451652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Договор, счёт, безналичный расчёт и закрывающие документы.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393027" y="6454943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515</Words>
  <Application>Microsoft Macintosh PowerPoint</Application>
  <PresentationFormat>Widescreen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Продай за меня — Офисы. Клиентская презентация</dc:title>
  <dc:subject>PptxGenJS Presentation</dc:subject>
  <dc:creator>Продай за меня</dc:creator>
  <cp:lastModifiedBy>Олег Рыбаков</cp:lastModifiedBy>
  <cp:revision>6</cp:revision>
  <dcterms:created xsi:type="dcterms:W3CDTF">2026-09-06T17:25:35Z</dcterms:created>
  <dcterms:modified xsi:type="dcterms:W3CDTF">2026-09-07T11:58:47Z</dcterms:modified>
</cp:coreProperties>
</file>